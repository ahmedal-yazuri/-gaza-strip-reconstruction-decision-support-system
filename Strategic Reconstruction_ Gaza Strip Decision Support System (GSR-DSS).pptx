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tkk52EIWCB2nBsqdHrpksrb+q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jp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 name="Google Shape;17;p1"/>
          <p:cNvSpPr/>
          <p:nvPr/>
        </p:nvSpPr>
        <p:spPr>
          <a:xfrm>
            <a:off x="1000125" y="1105551"/>
            <a:ext cx="7143750" cy="2723443"/>
          </a:xfrm>
          <a:prstGeom prst="rect">
            <a:avLst/>
          </a:prstGeom>
          <a:solidFill>
            <a:srgbClr val="00FFCC">
              <a:alpha val="5098"/>
            </a:srgbClr>
          </a:solidFill>
          <a:ln cap="flat" cmpd="sng" w="9525">
            <a:solidFill>
              <a:srgbClr val="00F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1428750" y="1704761"/>
            <a:ext cx="6286500" cy="1005818"/>
          </a:xfrm>
          <a:prstGeom prst="rect">
            <a:avLst/>
          </a:prstGeom>
          <a:noFill/>
          <a:ln>
            <a:noFill/>
          </a:ln>
        </p:spPr>
        <p:txBody>
          <a:bodyPr anchorCtr="0" anchor="t" bIns="0" lIns="0" spcFirstLastPara="1" rIns="0" wrap="square" tIns="0">
            <a:spAutoFit/>
          </a:bodyPr>
          <a:lstStyle/>
          <a:p>
            <a:pPr indent="0" lvl="0" marL="0" marR="0" rtl="0" algn="ctr">
              <a:lnSpc>
                <a:spcPct val="121469"/>
              </a:lnSpc>
              <a:spcBef>
                <a:spcPts val="0"/>
              </a:spcBef>
              <a:spcAft>
                <a:spcPts val="0"/>
              </a:spcAft>
              <a:buClr>
                <a:srgbClr val="00FFCC"/>
              </a:buClr>
              <a:buSzPts val="3293"/>
              <a:buFont typeface="Calibri"/>
              <a:buNone/>
            </a:pPr>
            <a:r>
              <a:rPr b="1" i="0" lang="en-US" sz="3293" u="none" cap="none" strike="noStrike">
                <a:solidFill>
                  <a:srgbClr val="00FFCC"/>
                </a:solidFill>
                <a:latin typeface="Calibri"/>
                <a:ea typeface="Calibri"/>
                <a:cs typeface="Calibri"/>
                <a:sym typeface="Calibri"/>
              </a:rPr>
              <a:t>Gaza Strip Reconstruction</a:t>
            </a:r>
            <a:endParaRPr b="0" i="0" sz="3293" u="none" cap="none" strike="noStrike">
              <a:solidFill>
                <a:schemeClr val="dk1"/>
              </a:solidFill>
              <a:latin typeface="Calibri"/>
              <a:ea typeface="Calibri"/>
              <a:cs typeface="Calibri"/>
              <a:sym typeface="Calibri"/>
            </a:endParaRPr>
          </a:p>
        </p:txBody>
      </p:sp>
      <p:sp>
        <p:nvSpPr>
          <p:cNvPr id="19" name="Google Shape;19;p1"/>
          <p:cNvSpPr/>
          <p:nvPr/>
        </p:nvSpPr>
        <p:spPr>
          <a:xfrm>
            <a:off x="1428750" y="2900307"/>
            <a:ext cx="6286500" cy="312539"/>
          </a:xfrm>
          <a:prstGeom prst="rect">
            <a:avLst/>
          </a:prstGeom>
          <a:noFill/>
          <a:ln>
            <a:noFill/>
          </a:ln>
        </p:spPr>
        <p:txBody>
          <a:bodyPr anchorCtr="0" anchor="t" bIns="0" lIns="0" spcFirstLastPara="1" rIns="0" wrap="square" tIns="0">
            <a:spAutoFit/>
          </a:bodyPr>
          <a:lstStyle/>
          <a:p>
            <a:pPr indent="0" lvl="0" marL="0" marR="0" rtl="0" algn="ctr">
              <a:lnSpc>
                <a:spcPct val="129107"/>
              </a:lnSpc>
              <a:spcBef>
                <a:spcPts val="0"/>
              </a:spcBef>
              <a:spcAft>
                <a:spcPts val="0"/>
              </a:spcAft>
              <a:buClr>
                <a:srgbClr val="A0A0A0"/>
              </a:buClr>
              <a:buSzPts val="1704"/>
              <a:buFont typeface="Calibri"/>
              <a:buNone/>
            </a:pPr>
            <a:r>
              <a:rPr b="0" i="0" lang="en-US" sz="1704" u="none" cap="none" strike="noStrike">
                <a:solidFill>
                  <a:srgbClr val="A0A0A0"/>
                </a:solidFill>
                <a:latin typeface="Calibri"/>
                <a:ea typeface="Calibri"/>
                <a:cs typeface="Calibri"/>
                <a:sym typeface="Calibri"/>
              </a:rPr>
              <a:t>Decision Support System (GSR-DSS)</a:t>
            </a:r>
            <a:endParaRPr b="0" i="0" sz="1704" u="none" cap="none" strike="noStrike">
              <a:solidFill>
                <a:schemeClr val="dk1"/>
              </a:solidFill>
              <a:latin typeface="Calibri"/>
              <a:ea typeface="Calibri"/>
              <a:cs typeface="Calibri"/>
              <a:sym typeface="Calibri"/>
            </a:endParaRPr>
          </a:p>
        </p:txBody>
      </p:sp>
      <p:sp>
        <p:nvSpPr>
          <p:cNvPr id="20" name="Google Shape;20;p1"/>
          <p:cNvSpPr/>
          <p:nvPr/>
        </p:nvSpPr>
        <p:spPr>
          <a:xfrm>
            <a:off x="1428750" y="3484308"/>
            <a:ext cx="6286500" cy="194667"/>
          </a:xfrm>
          <a:prstGeom prst="rect">
            <a:avLst/>
          </a:prstGeom>
          <a:noFill/>
          <a:ln>
            <a:noFill/>
          </a:ln>
        </p:spPr>
        <p:txBody>
          <a:bodyPr anchorCtr="0" anchor="t" bIns="0" lIns="0" spcFirstLastPara="1" rIns="0" wrap="square" tIns="0">
            <a:spAutoFit/>
          </a:bodyPr>
          <a:lstStyle/>
          <a:p>
            <a:pPr indent="0" lvl="0" marL="0" marR="0" rtl="0" algn="ctr">
              <a:lnSpc>
                <a:spcPct val="133333"/>
              </a:lnSpc>
              <a:spcBef>
                <a:spcPts val="0"/>
              </a:spcBef>
              <a:spcAft>
                <a:spcPts val="0"/>
              </a:spcAft>
              <a:buClr>
                <a:srgbClr val="E0E0E0"/>
              </a:buClr>
              <a:buSzPts val="1050"/>
              <a:buFont typeface="Calibri"/>
              <a:buNone/>
            </a:pPr>
            <a:r>
              <a:rPr b="0" i="0" lang="en-US" sz="1050" u="none" cap="none" strike="noStrike">
                <a:solidFill>
                  <a:srgbClr val="E0E0E0"/>
                </a:solidFill>
                <a:latin typeface="Calibri"/>
                <a:ea typeface="Calibri"/>
                <a:cs typeface="Calibri"/>
                <a:sym typeface="Calibri"/>
              </a:rPr>
              <a:t>AI-DRIVEN GEOSPATIAL INTELLIGENCE FOR POST-CONFLICT RECOVERY</a:t>
            </a:r>
            <a:endParaRPr b="0" i="0" sz="1050" u="none" cap="none" strike="noStrike">
              <a:solidFill>
                <a:schemeClr val="dk1"/>
              </a:solidFill>
              <a:latin typeface="Calibri"/>
              <a:ea typeface="Calibri"/>
              <a:cs typeface="Calibri"/>
              <a:sym typeface="Calibri"/>
            </a:endParaRPr>
          </a:p>
        </p:txBody>
      </p:sp>
      <p:sp>
        <p:nvSpPr>
          <p:cNvPr id="21" name="Google Shape;21;p1"/>
          <p:cNvSpPr/>
          <p:nvPr/>
        </p:nvSpPr>
        <p:spPr>
          <a:xfrm>
            <a:off x="2268615" y="4079025"/>
            <a:ext cx="861408" cy="194667"/>
          </a:xfrm>
          <a:prstGeom prst="rect">
            <a:avLst/>
          </a:prstGeom>
          <a:noFill/>
          <a:ln>
            <a:noFill/>
          </a:ln>
        </p:spPr>
        <p:txBody>
          <a:bodyPr anchorCtr="0" anchor="t" bIns="0" lIns="0" spcFirstLastPara="1" rIns="0" wrap="square" tIns="0">
            <a:spAutoFit/>
          </a:bodyPr>
          <a:lstStyle/>
          <a:p>
            <a:pPr indent="0" lvl="0" marL="0" marR="0" rtl="0" algn="ctr">
              <a:lnSpc>
                <a:spcPct val="133333"/>
              </a:lnSpc>
              <a:spcBef>
                <a:spcPts val="0"/>
              </a:spcBef>
              <a:spcAft>
                <a:spcPts val="0"/>
              </a:spcAft>
              <a:buClr>
                <a:srgbClr val="A0A0A0"/>
              </a:buClr>
              <a:buSzPts val="1050"/>
              <a:buFont typeface="Calibri"/>
              <a:buNone/>
            </a:pPr>
            <a:r>
              <a:rPr lang="en-US" sz="1050">
                <a:solidFill>
                  <a:srgbClr val="A0A0A0"/>
                </a:solidFill>
                <a:latin typeface="Calibri"/>
                <a:ea typeface="Calibri"/>
                <a:cs typeface="Calibri"/>
                <a:sym typeface="Calibri"/>
              </a:rPr>
              <a:t>Hamza Obaid</a:t>
            </a:r>
            <a:endParaRPr b="0" i="0" sz="1050" u="none" cap="none" strike="noStrike">
              <a:solidFill>
                <a:schemeClr val="dk1"/>
              </a:solidFill>
              <a:latin typeface="Calibri"/>
              <a:ea typeface="Calibri"/>
              <a:cs typeface="Calibri"/>
              <a:sym typeface="Calibri"/>
            </a:endParaRPr>
          </a:p>
        </p:txBody>
      </p:sp>
      <p:sp>
        <p:nvSpPr>
          <p:cNvPr id="22" name="Google Shape;22;p1"/>
          <p:cNvSpPr/>
          <p:nvPr/>
        </p:nvSpPr>
        <p:spPr>
          <a:xfrm>
            <a:off x="5078285" y="4079025"/>
            <a:ext cx="2011412" cy="194667"/>
          </a:xfrm>
          <a:prstGeom prst="rect">
            <a:avLst/>
          </a:prstGeom>
          <a:noFill/>
          <a:ln>
            <a:noFill/>
          </a:ln>
        </p:spPr>
        <p:txBody>
          <a:bodyPr anchorCtr="0" anchor="t" bIns="0" lIns="0" spcFirstLastPara="1" rIns="0" wrap="square" tIns="0">
            <a:spAutoFit/>
          </a:bodyPr>
          <a:lstStyle/>
          <a:p>
            <a:pPr indent="0" lvl="0" marL="0" marR="0" rtl="0" algn="ctr">
              <a:lnSpc>
                <a:spcPct val="133333"/>
              </a:lnSpc>
              <a:spcBef>
                <a:spcPts val="0"/>
              </a:spcBef>
              <a:spcAft>
                <a:spcPts val="0"/>
              </a:spcAft>
              <a:buClr>
                <a:srgbClr val="A0A0A0"/>
              </a:buClr>
              <a:buSzPts val="1050"/>
              <a:buFont typeface="Calibri"/>
              <a:buNone/>
            </a:pPr>
            <a:r>
              <a:rPr lang="en-US" sz="1050">
                <a:solidFill>
                  <a:srgbClr val="A0A0A0"/>
                </a:solidFill>
                <a:latin typeface="Calibri"/>
                <a:ea typeface="Calibri"/>
                <a:cs typeface="Calibri"/>
                <a:sym typeface="Calibri"/>
              </a:rPr>
              <a:t>Ahmed Al-</a:t>
            </a:r>
            <a:r>
              <a:rPr lang="en-US" sz="1050">
                <a:solidFill>
                  <a:srgbClr val="A0A0A0"/>
                </a:solidFill>
                <a:latin typeface="Calibri"/>
                <a:ea typeface="Calibri"/>
                <a:cs typeface="Calibri"/>
                <a:sym typeface="Calibri"/>
              </a:rPr>
              <a:t>yazouri</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pic>
        <p:nvPicPr>
          <p:cNvPr descr="preencoded.png" id="28" name="Google Shape;28;p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9" name="Google Shape;29;p2"/>
          <p:cNvSpPr/>
          <p:nvPr/>
        </p:nvSpPr>
        <p:spPr>
          <a:xfrm>
            <a:off x="0" y="0"/>
            <a:ext cx="9001125" cy="902317"/>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0" y="895173"/>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428625" y="475478"/>
            <a:ext cx="8572500"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Data-Driven Recovery Optimizes Resource Allocation</a:t>
            </a:r>
            <a:endParaRPr b="0" i="0" sz="1602" u="none" cap="none" strike="noStrike">
              <a:solidFill>
                <a:schemeClr val="dk1"/>
              </a:solidFill>
              <a:latin typeface="Calibri"/>
              <a:ea typeface="Calibri"/>
              <a:cs typeface="Calibri"/>
              <a:sym typeface="Calibri"/>
            </a:endParaRPr>
          </a:p>
        </p:txBody>
      </p:sp>
      <p:sp>
        <p:nvSpPr>
          <p:cNvPr id="32" name="Google Shape;32;p2"/>
          <p:cNvSpPr/>
          <p:nvPr/>
        </p:nvSpPr>
        <p:spPr>
          <a:xfrm>
            <a:off x="285750" y="1180923"/>
            <a:ext cx="5072063" cy="914400"/>
          </a:xfrm>
          <a:prstGeom prst="rect">
            <a:avLst/>
          </a:prstGeom>
          <a:noFill/>
          <a:ln>
            <a:noFill/>
          </a:ln>
        </p:spPr>
        <p:txBody>
          <a:bodyPr anchorCtr="0" anchor="t" bIns="0" lIns="0" spcFirstLastPara="1" rIns="0" wrap="square" tIns="0">
            <a:spAutoFit/>
          </a:bodyPr>
          <a:lstStyle/>
          <a:p>
            <a:pPr indent="0" lvl="0" marL="0" marR="0" rtl="0" algn="just">
              <a:lnSpc>
                <a:spcPct val="171428"/>
              </a:lnSpc>
              <a:spcBef>
                <a:spcPts val="0"/>
              </a:spcBef>
              <a:spcAft>
                <a:spcPts val="0"/>
              </a:spcAft>
              <a:buClr>
                <a:srgbClr val="E0E0E0"/>
              </a:buClr>
              <a:buSzPts val="1050"/>
              <a:buFont typeface="Calibri"/>
              <a:buNone/>
            </a:pPr>
            <a:r>
              <a:rPr b="0" i="0" lang="en-US" sz="1050" u="none" cap="none" strike="noStrike">
                <a:solidFill>
                  <a:srgbClr val="E0E0E0"/>
                </a:solidFill>
                <a:latin typeface="Calibri"/>
                <a:ea typeface="Calibri"/>
                <a:cs typeface="Calibri"/>
                <a:sym typeface="Calibri"/>
              </a:rPr>
              <a:t>The Gaza Strip Reconstruction Decision Support System (GSR-DSS) is a professional GIS platform designed for academic and humanitarian use. It transforms complex satellite-based damage data into a prioritized, actionable reconstruction roadmap.</a:t>
            </a:r>
            <a:endParaRPr b="0" i="0" sz="1050" u="none" cap="none" strike="noStrike">
              <a:solidFill>
                <a:schemeClr val="dk1"/>
              </a:solidFill>
              <a:latin typeface="Calibri"/>
              <a:ea typeface="Calibri"/>
              <a:cs typeface="Calibri"/>
              <a:sym typeface="Calibri"/>
            </a:endParaRPr>
          </a:p>
        </p:txBody>
      </p:sp>
      <p:pic>
        <p:nvPicPr>
          <p:cNvPr descr="preencoded.png" id="33" name="Google Shape;33;p2"/>
          <p:cNvPicPr preferRelativeResize="0"/>
          <p:nvPr/>
        </p:nvPicPr>
        <p:blipFill rotWithShape="1">
          <a:blip r:embed="rId4">
            <a:alphaModFix/>
          </a:blip>
          <a:srcRect b="0" l="0" r="0" t="0"/>
          <a:stretch/>
        </p:blipFill>
        <p:spPr>
          <a:xfrm>
            <a:off x="285750" y="2402505"/>
            <a:ext cx="128588" cy="128588"/>
          </a:xfrm>
          <a:prstGeom prst="rect">
            <a:avLst/>
          </a:prstGeom>
          <a:noFill/>
          <a:ln>
            <a:noFill/>
          </a:ln>
        </p:spPr>
      </p:pic>
      <p:sp>
        <p:nvSpPr>
          <p:cNvPr id="34" name="Google Shape;34;p2"/>
          <p:cNvSpPr/>
          <p:nvPr/>
        </p:nvSpPr>
        <p:spPr>
          <a:xfrm>
            <a:off x="500063" y="2373930"/>
            <a:ext cx="4857750" cy="350044"/>
          </a:xfrm>
          <a:prstGeom prst="rect">
            <a:avLst/>
          </a:prstGeom>
          <a:noFill/>
          <a:ln>
            <a:noFill/>
          </a:ln>
        </p:spPr>
        <p:txBody>
          <a:bodyPr anchorCtr="0" anchor="t" bIns="0" lIns="0" spcFirstLastPara="1" rIns="0" wrap="square" tIns="0">
            <a:spAutoFit/>
          </a:bodyPr>
          <a:lstStyle/>
          <a:p>
            <a:pPr indent="0" lvl="0" marL="0" marR="0" rtl="0" algn="l">
              <a:lnSpc>
                <a:spcPct val="127388"/>
              </a:lnSpc>
              <a:spcBef>
                <a:spcPts val="0"/>
              </a:spcBef>
              <a:spcAft>
                <a:spcPts val="0"/>
              </a:spcAft>
              <a:buClr>
                <a:srgbClr val="A0A0A0"/>
              </a:buClr>
              <a:buSzPts val="885"/>
              <a:buFont typeface="Calibri"/>
              <a:buNone/>
            </a:pPr>
            <a:r>
              <a:rPr b="1" i="0" lang="en-US" sz="985" u="none" cap="none" strike="noStrike">
                <a:solidFill>
                  <a:srgbClr val="A0A0A0"/>
                </a:solidFill>
                <a:latin typeface="Calibri"/>
                <a:ea typeface="Calibri"/>
                <a:cs typeface="Calibri"/>
                <a:sym typeface="Calibri"/>
              </a:rPr>
              <a:t>Multi-Source Integration:</a:t>
            </a:r>
            <a:r>
              <a:rPr b="0" i="0" lang="en-US" sz="1042" u="none" cap="none" strike="noStrike">
                <a:solidFill>
                  <a:srgbClr val="A0A0A0"/>
                </a:solidFill>
                <a:latin typeface="Calibri"/>
                <a:ea typeface="Calibri"/>
                <a:cs typeface="Calibri"/>
                <a:sym typeface="Calibri"/>
              </a:rPr>
              <a:t> Combines UNOSAT imagery, OpenStreetMap, and humanitarian population estimates.</a:t>
            </a:r>
            <a:endParaRPr b="0" i="0" sz="1042" u="none" cap="none" strike="noStrike">
              <a:solidFill>
                <a:schemeClr val="dk1"/>
              </a:solidFill>
              <a:latin typeface="Calibri"/>
              <a:ea typeface="Calibri"/>
              <a:cs typeface="Calibri"/>
              <a:sym typeface="Calibri"/>
            </a:endParaRPr>
          </a:p>
        </p:txBody>
      </p:sp>
      <p:pic>
        <p:nvPicPr>
          <p:cNvPr descr="preencoded.png" id="35" name="Google Shape;35;p2"/>
          <p:cNvPicPr preferRelativeResize="0"/>
          <p:nvPr/>
        </p:nvPicPr>
        <p:blipFill rotWithShape="1">
          <a:blip r:embed="rId5">
            <a:alphaModFix/>
          </a:blip>
          <a:srcRect b="0" l="0" r="0" t="0"/>
          <a:stretch/>
        </p:blipFill>
        <p:spPr>
          <a:xfrm>
            <a:off x="285750" y="2931142"/>
            <a:ext cx="144661" cy="128588"/>
          </a:xfrm>
          <a:prstGeom prst="rect">
            <a:avLst/>
          </a:prstGeom>
          <a:noFill/>
          <a:ln>
            <a:noFill/>
          </a:ln>
        </p:spPr>
      </p:pic>
      <p:sp>
        <p:nvSpPr>
          <p:cNvPr id="36" name="Google Shape;36;p2"/>
          <p:cNvSpPr/>
          <p:nvPr/>
        </p:nvSpPr>
        <p:spPr>
          <a:xfrm>
            <a:off x="516136" y="2902567"/>
            <a:ext cx="4841677" cy="350044"/>
          </a:xfrm>
          <a:prstGeom prst="rect">
            <a:avLst/>
          </a:prstGeom>
          <a:noFill/>
          <a:ln>
            <a:noFill/>
          </a:ln>
        </p:spPr>
        <p:txBody>
          <a:bodyPr anchorCtr="0" anchor="t" bIns="0" lIns="0" spcFirstLastPara="1" rIns="0" wrap="square" tIns="0">
            <a:spAutoFit/>
          </a:bodyPr>
          <a:lstStyle/>
          <a:p>
            <a:pPr indent="0" lvl="0" marL="0" marR="0" rtl="0" algn="l">
              <a:lnSpc>
                <a:spcPct val="127388"/>
              </a:lnSpc>
              <a:spcBef>
                <a:spcPts val="0"/>
              </a:spcBef>
              <a:spcAft>
                <a:spcPts val="0"/>
              </a:spcAft>
              <a:buClr>
                <a:srgbClr val="A0A0A0"/>
              </a:buClr>
              <a:buSzPts val="885"/>
              <a:buFont typeface="Calibri"/>
              <a:buNone/>
            </a:pPr>
            <a:r>
              <a:rPr b="1" i="0" lang="en-US" sz="985" u="none" cap="none" strike="noStrike">
                <a:solidFill>
                  <a:srgbClr val="A0A0A0"/>
                </a:solidFill>
                <a:latin typeface="Calibri"/>
                <a:ea typeface="Calibri"/>
                <a:cs typeface="Calibri"/>
                <a:sym typeface="Calibri"/>
              </a:rPr>
              <a:t>Actionable Roadmap:</a:t>
            </a:r>
            <a:r>
              <a:rPr b="0" i="0" lang="en-US" sz="1042" u="none" cap="none" strike="noStrike">
                <a:solidFill>
                  <a:srgbClr val="A0A0A0"/>
                </a:solidFill>
                <a:latin typeface="Calibri"/>
                <a:ea typeface="Calibri"/>
                <a:cs typeface="Calibri"/>
                <a:sym typeface="Calibri"/>
              </a:rPr>
              <a:t> Provides a robust framework for recovery through evidence-based spatial intelligence.</a:t>
            </a:r>
            <a:endParaRPr b="0" i="0" sz="1042" u="none" cap="none" strike="noStrike">
              <a:solidFill>
                <a:schemeClr val="dk1"/>
              </a:solidFill>
              <a:latin typeface="Calibri"/>
              <a:ea typeface="Calibri"/>
              <a:cs typeface="Calibri"/>
              <a:sym typeface="Calibri"/>
            </a:endParaRPr>
          </a:p>
        </p:txBody>
      </p:sp>
      <p:pic>
        <p:nvPicPr>
          <p:cNvPr descr="preencoded.png" id="37" name="Google Shape;37;p2"/>
          <p:cNvPicPr preferRelativeResize="0"/>
          <p:nvPr/>
        </p:nvPicPr>
        <p:blipFill rotWithShape="1">
          <a:blip r:embed="rId6">
            <a:alphaModFix/>
          </a:blip>
          <a:srcRect b="0" l="0" r="0" t="0"/>
          <a:stretch/>
        </p:blipFill>
        <p:spPr>
          <a:xfrm>
            <a:off x="285750" y="3459780"/>
            <a:ext cx="128588" cy="128588"/>
          </a:xfrm>
          <a:prstGeom prst="rect">
            <a:avLst/>
          </a:prstGeom>
          <a:noFill/>
          <a:ln>
            <a:noFill/>
          </a:ln>
        </p:spPr>
      </p:pic>
      <p:sp>
        <p:nvSpPr>
          <p:cNvPr id="38" name="Google Shape;38;p2"/>
          <p:cNvSpPr/>
          <p:nvPr/>
        </p:nvSpPr>
        <p:spPr>
          <a:xfrm>
            <a:off x="500063" y="3431205"/>
            <a:ext cx="4857750" cy="350044"/>
          </a:xfrm>
          <a:prstGeom prst="rect">
            <a:avLst/>
          </a:prstGeom>
          <a:noFill/>
          <a:ln>
            <a:noFill/>
          </a:ln>
        </p:spPr>
        <p:txBody>
          <a:bodyPr anchorCtr="0" anchor="t" bIns="0" lIns="0" spcFirstLastPara="1" rIns="0" wrap="square" tIns="0">
            <a:spAutoFit/>
          </a:bodyPr>
          <a:lstStyle/>
          <a:p>
            <a:pPr indent="0" lvl="0" marL="0" marR="0" rtl="0" algn="l">
              <a:lnSpc>
                <a:spcPct val="127388"/>
              </a:lnSpc>
              <a:spcBef>
                <a:spcPts val="0"/>
              </a:spcBef>
              <a:spcAft>
                <a:spcPts val="0"/>
              </a:spcAft>
              <a:buClr>
                <a:srgbClr val="A0A0A0"/>
              </a:buClr>
              <a:buSzPts val="885"/>
              <a:buFont typeface="Calibri"/>
              <a:buNone/>
            </a:pPr>
            <a:r>
              <a:rPr b="1" i="0" lang="en-US" sz="985" u="none" cap="none" strike="noStrike">
                <a:solidFill>
                  <a:srgbClr val="A0A0A0"/>
                </a:solidFill>
                <a:latin typeface="Calibri"/>
                <a:ea typeface="Calibri"/>
                <a:cs typeface="Calibri"/>
                <a:sym typeface="Calibri"/>
              </a:rPr>
              <a:t>Version 1.0.0:</a:t>
            </a:r>
            <a:r>
              <a:rPr b="0" i="0" lang="en-US" sz="1042" u="none" cap="none" strike="noStrike">
                <a:solidFill>
                  <a:srgbClr val="A0A0A0"/>
                </a:solidFill>
                <a:latin typeface="Calibri"/>
                <a:ea typeface="Calibri"/>
                <a:cs typeface="Calibri"/>
                <a:sym typeface="Calibri"/>
              </a:rPr>
              <a:t> Showcases advanced technical achievements in post-conflict recovery planning.</a:t>
            </a:r>
            <a:endParaRPr b="0" i="0" sz="1042" u="none" cap="none" strike="noStrike">
              <a:solidFill>
                <a:schemeClr val="dk1"/>
              </a:solidFill>
              <a:latin typeface="Calibri"/>
              <a:ea typeface="Calibri"/>
              <a:cs typeface="Calibri"/>
              <a:sym typeface="Calibri"/>
            </a:endParaRPr>
          </a:p>
        </p:txBody>
      </p:sp>
      <p:sp>
        <p:nvSpPr>
          <p:cNvPr id="39" name="Google Shape;39;p2"/>
          <p:cNvSpPr/>
          <p:nvPr/>
        </p:nvSpPr>
        <p:spPr>
          <a:xfrm>
            <a:off x="5572125" y="1038048"/>
            <a:ext cx="3300413" cy="2586038"/>
          </a:xfrm>
          <a:prstGeom prst="rect">
            <a:avLst/>
          </a:prstGeom>
          <a:solidFill>
            <a:srgbClr val="00FFCC">
              <a:alpha val="5098"/>
            </a:srgbClr>
          </a:solidFill>
          <a:ln cap="flat" cmpd="sng" w="9525">
            <a:solidFill>
              <a:srgbClr val="00F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 name="Google Shape;40;p2"/>
          <p:cNvPicPr preferRelativeResize="0"/>
          <p:nvPr/>
        </p:nvPicPr>
        <p:blipFill rotWithShape="1">
          <a:blip r:embed="rId7">
            <a:alphaModFix amt="80000"/>
          </a:blip>
          <a:srcRect b="0" l="0" r="0" t="0"/>
          <a:stretch/>
        </p:blipFill>
        <p:spPr>
          <a:xfrm>
            <a:off x="5572125" y="1038048"/>
            <a:ext cx="3286125" cy="2571750"/>
          </a:xfrm>
          <a:prstGeom prst="rect">
            <a:avLst/>
          </a:prstGeom>
          <a:noFill/>
          <a:ln>
            <a:noFill/>
          </a:ln>
        </p:spPr>
      </p:pic>
      <p:sp>
        <p:nvSpPr>
          <p:cNvPr id="41" name="Google Shape;41;p2"/>
          <p:cNvSpPr/>
          <p:nvPr/>
        </p:nvSpPr>
        <p:spPr>
          <a:xfrm>
            <a:off x="5572125" y="3695523"/>
            <a:ext cx="3286125" cy="135731"/>
          </a:xfrm>
          <a:prstGeom prst="rect">
            <a:avLst/>
          </a:prstGeom>
          <a:noFill/>
          <a:ln>
            <a:noFill/>
          </a:ln>
        </p:spPr>
        <p:txBody>
          <a:bodyPr anchorCtr="0" anchor="t" bIns="0" lIns="85075"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Aerial analysis of structural damage patterns</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pic>
        <p:nvPicPr>
          <p:cNvPr descr="preencoded.png" id="47" name="Google Shape;47;p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48" name="Google Shape;48;p3"/>
          <p:cNvSpPr/>
          <p:nvPr/>
        </p:nvSpPr>
        <p:spPr>
          <a:xfrm>
            <a:off x="0" y="0"/>
            <a:ext cx="9001125" cy="902317"/>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0" y="895173"/>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428625" y="475478"/>
            <a:ext cx="8572500"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Multi-Stage Engineering Pipeline Ensures Data Integrity</a:t>
            </a:r>
            <a:endParaRPr b="0" i="0" sz="1602" u="none" cap="none" strike="noStrike">
              <a:solidFill>
                <a:schemeClr val="dk1"/>
              </a:solidFill>
              <a:latin typeface="Calibri"/>
              <a:ea typeface="Calibri"/>
              <a:cs typeface="Calibri"/>
              <a:sym typeface="Calibri"/>
            </a:endParaRPr>
          </a:p>
        </p:txBody>
      </p:sp>
      <p:sp>
        <p:nvSpPr>
          <p:cNvPr id="51" name="Google Shape;51;p3"/>
          <p:cNvSpPr/>
          <p:nvPr/>
        </p:nvSpPr>
        <p:spPr>
          <a:xfrm>
            <a:off x="428625" y="1166636"/>
            <a:ext cx="8286750" cy="205718"/>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A0A0A0"/>
              </a:buClr>
              <a:buSzPts val="942"/>
              <a:buFont typeface="Calibri"/>
              <a:buNone/>
            </a:pPr>
            <a:r>
              <a:rPr b="0" i="0" lang="en-US" sz="1042" u="none" cap="none" strike="noStrike">
                <a:solidFill>
                  <a:srgbClr val="A0A0A0"/>
                </a:solidFill>
                <a:latin typeface="Calibri"/>
                <a:ea typeface="Calibri"/>
                <a:cs typeface="Calibri"/>
                <a:sym typeface="Calibri"/>
              </a:rPr>
              <a:t>The GSR-DSS follows a rigorous 5-step engineering pipeline to transform raw geospatial data into prioritized reconstruction intelligence.</a:t>
            </a:r>
            <a:endParaRPr b="0" i="0" sz="1042" u="none" cap="none" strike="noStrike">
              <a:solidFill>
                <a:schemeClr val="dk1"/>
              </a:solidFill>
              <a:latin typeface="Calibri"/>
              <a:ea typeface="Calibri"/>
              <a:cs typeface="Calibri"/>
              <a:sym typeface="Calibri"/>
            </a:endParaRPr>
          </a:p>
        </p:txBody>
      </p:sp>
      <p:sp>
        <p:nvSpPr>
          <p:cNvPr id="52" name="Google Shape;52;p3"/>
          <p:cNvSpPr/>
          <p:nvPr/>
        </p:nvSpPr>
        <p:spPr>
          <a:xfrm>
            <a:off x="428625" y="1586666"/>
            <a:ext cx="8286750" cy="462558"/>
          </a:xfrm>
          <a:prstGeom prst="rect">
            <a:avLst/>
          </a:prstGeom>
          <a:solidFill>
            <a:srgbClr val="FFFFFF">
              <a:alpha val="1960"/>
            </a:srgbClr>
          </a:solidFill>
          <a:ln cap="flat" cmpd="sng" w="9525">
            <a:solidFill>
              <a:srgbClr val="A0A0A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535781" y="1693822"/>
            <a:ext cx="285750"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FFCC"/>
              </a:buClr>
              <a:buSzPts val="1193"/>
              <a:buFont typeface="Calibri"/>
              <a:buNone/>
            </a:pPr>
            <a:r>
              <a:rPr b="1" i="0" lang="en-US" sz="1193" u="none" cap="none" strike="noStrike">
                <a:solidFill>
                  <a:srgbClr val="00FFCC"/>
                </a:solidFill>
                <a:latin typeface="Calibri"/>
                <a:ea typeface="Calibri"/>
                <a:cs typeface="Calibri"/>
                <a:sym typeface="Calibri"/>
              </a:rPr>
              <a:t>01</a:t>
            </a:r>
            <a:endParaRPr b="0" i="0" sz="1193" u="none" cap="none" strike="noStrike">
              <a:solidFill>
                <a:schemeClr val="dk1"/>
              </a:solidFill>
              <a:latin typeface="Calibri"/>
              <a:ea typeface="Calibri"/>
              <a:cs typeface="Calibri"/>
              <a:sym typeface="Calibri"/>
            </a:endParaRPr>
          </a:p>
        </p:txBody>
      </p:sp>
      <p:sp>
        <p:nvSpPr>
          <p:cNvPr id="54" name="Google Shape;54;p3"/>
          <p:cNvSpPr/>
          <p:nvPr/>
        </p:nvSpPr>
        <p:spPr>
          <a:xfrm>
            <a:off x="964406" y="1723290"/>
            <a:ext cx="1785938"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1000" u="none" cap="none" strike="noStrike">
                <a:solidFill>
                  <a:srgbClr val="00FFCC"/>
                </a:solidFill>
                <a:latin typeface="Calibri"/>
                <a:ea typeface="Calibri"/>
                <a:cs typeface="Calibri"/>
                <a:sym typeface="Calibri"/>
              </a:rPr>
              <a:t>Data Harmonization</a:t>
            </a:r>
            <a:endParaRPr b="0" i="0" sz="1000" u="none" cap="none" strike="noStrike">
              <a:solidFill>
                <a:schemeClr val="dk1"/>
              </a:solidFill>
              <a:latin typeface="Calibri"/>
              <a:ea typeface="Calibri"/>
              <a:cs typeface="Calibri"/>
              <a:sym typeface="Calibri"/>
            </a:endParaRPr>
          </a:p>
        </p:txBody>
      </p:sp>
      <p:sp>
        <p:nvSpPr>
          <p:cNvPr id="55" name="Google Shape;55;p3"/>
          <p:cNvSpPr/>
          <p:nvPr/>
        </p:nvSpPr>
        <p:spPr>
          <a:xfrm>
            <a:off x="2893219" y="1730797"/>
            <a:ext cx="4580455" cy="160009"/>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1034" u="none" cap="none" strike="noStrike">
                <a:solidFill>
                  <a:srgbClr val="E0E0E0"/>
                </a:solidFill>
                <a:latin typeface="Calibri"/>
                <a:ea typeface="Calibri"/>
                <a:cs typeface="Calibri"/>
                <a:sym typeface="Calibri"/>
              </a:rPr>
              <a:t>Merging satellite imagery, OSM road networks, and UN OCHA humanitarian datasets.</a:t>
            </a:r>
            <a:endParaRPr b="0" i="0" sz="1034" u="none" cap="none" strike="noStrike">
              <a:solidFill>
                <a:schemeClr val="dk1"/>
              </a:solidFill>
              <a:latin typeface="Calibri"/>
              <a:ea typeface="Calibri"/>
              <a:cs typeface="Calibri"/>
              <a:sym typeface="Calibri"/>
            </a:endParaRPr>
          </a:p>
        </p:txBody>
      </p:sp>
      <p:sp>
        <p:nvSpPr>
          <p:cNvPr id="56" name="Google Shape;56;p3"/>
          <p:cNvSpPr/>
          <p:nvPr/>
        </p:nvSpPr>
        <p:spPr>
          <a:xfrm>
            <a:off x="428625" y="2120661"/>
            <a:ext cx="8286750" cy="462558"/>
          </a:xfrm>
          <a:prstGeom prst="rect">
            <a:avLst/>
          </a:prstGeom>
          <a:solidFill>
            <a:srgbClr val="FFFFFF">
              <a:alpha val="1960"/>
            </a:srgbClr>
          </a:solidFill>
          <a:ln cap="flat" cmpd="sng" w="9525">
            <a:solidFill>
              <a:srgbClr val="A0A0A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535781" y="2227818"/>
            <a:ext cx="285750"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FFCC"/>
              </a:buClr>
              <a:buSzPts val="1193"/>
              <a:buFont typeface="Calibri"/>
              <a:buNone/>
            </a:pPr>
            <a:r>
              <a:rPr b="1" i="0" lang="en-US" sz="1193" u="none" cap="none" strike="noStrike">
                <a:solidFill>
                  <a:srgbClr val="00FFCC"/>
                </a:solidFill>
                <a:latin typeface="Calibri"/>
                <a:ea typeface="Calibri"/>
                <a:cs typeface="Calibri"/>
                <a:sym typeface="Calibri"/>
              </a:rPr>
              <a:t>02</a:t>
            </a:r>
            <a:endParaRPr b="0" i="0" sz="1193" u="none" cap="none" strike="noStrike">
              <a:solidFill>
                <a:schemeClr val="dk1"/>
              </a:solidFill>
              <a:latin typeface="Calibri"/>
              <a:ea typeface="Calibri"/>
              <a:cs typeface="Calibri"/>
              <a:sym typeface="Calibri"/>
            </a:endParaRPr>
          </a:p>
        </p:txBody>
      </p:sp>
      <p:sp>
        <p:nvSpPr>
          <p:cNvPr id="58" name="Google Shape;58;p3"/>
          <p:cNvSpPr/>
          <p:nvPr/>
        </p:nvSpPr>
        <p:spPr>
          <a:xfrm>
            <a:off x="964406" y="2257285"/>
            <a:ext cx="1785938"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1000" u="none" cap="none" strike="noStrike">
                <a:solidFill>
                  <a:srgbClr val="00FFCC"/>
                </a:solidFill>
                <a:latin typeface="Calibri"/>
                <a:ea typeface="Calibri"/>
                <a:cs typeface="Calibri"/>
                <a:sym typeface="Calibri"/>
              </a:rPr>
              <a:t>Spatial Aggregation</a:t>
            </a:r>
            <a:endParaRPr b="0" i="0" sz="1000" u="none" cap="none" strike="noStrike">
              <a:solidFill>
                <a:schemeClr val="dk1"/>
              </a:solidFill>
              <a:latin typeface="Calibri"/>
              <a:ea typeface="Calibri"/>
              <a:cs typeface="Calibri"/>
              <a:sym typeface="Calibri"/>
            </a:endParaRPr>
          </a:p>
        </p:txBody>
      </p:sp>
      <p:sp>
        <p:nvSpPr>
          <p:cNvPr id="59" name="Google Shape;59;p3"/>
          <p:cNvSpPr/>
          <p:nvPr/>
        </p:nvSpPr>
        <p:spPr>
          <a:xfrm>
            <a:off x="2893219" y="2264792"/>
            <a:ext cx="4658423" cy="160009"/>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1034" u="none" cap="none" strike="noStrike">
                <a:solidFill>
                  <a:srgbClr val="E0E0E0"/>
                </a:solidFill>
                <a:latin typeface="Calibri"/>
                <a:ea typeface="Calibri"/>
                <a:cs typeface="Calibri"/>
                <a:sym typeface="Calibri"/>
              </a:rPr>
              <a:t>Converting 198,308 damage points into 2,159 uniform 500m hexagonal analysis zones.</a:t>
            </a:r>
            <a:endParaRPr b="0" i="0" sz="1034" u="none" cap="none" strike="noStrike">
              <a:solidFill>
                <a:schemeClr val="dk1"/>
              </a:solidFill>
              <a:latin typeface="Calibri"/>
              <a:ea typeface="Calibri"/>
              <a:cs typeface="Calibri"/>
              <a:sym typeface="Calibri"/>
            </a:endParaRPr>
          </a:p>
        </p:txBody>
      </p:sp>
      <p:sp>
        <p:nvSpPr>
          <p:cNvPr id="60" name="Google Shape;60;p3"/>
          <p:cNvSpPr/>
          <p:nvPr/>
        </p:nvSpPr>
        <p:spPr>
          <a:xfrm>
            <a:off x="428625" y="2654657"/>
            <a:ext cx="8286750" cy="462558"/>
          </a:xfrm>
          <a:prstGeom prst="rect">
            <a:avLst/>
          </a:prstGeom>
          <a:solidFill>
            <a:srgbClr val="FFFFFF">
              <a:alpha val="1960"/>
            </a:srgbClr>
          </a:solidFill>
          <a:ln cap="flat" cmpd="sng" w="9525">
            <a:solidFill>
              <a:srgbClr val="A0A0A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535781" y="2761813"/>
            <a:ext cx="285750"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FFCC"/>
              </a:buClr>
              <a:buSzPts val="1193"/>
              <a:buFont typeface="Calibri"/>
              <a:buNone/>
            </a:pPr>
            <a:r>
              <a:rPr b="1" i="0" lang="en-US" sz="1193" u="none" cap="none" strike="noStrike">
                <a:solidFill>
                  <a:srgbClr val="00FFCC"/>
                </a:solidFill>
                <a:latin typeface="Calibri"/>
                <a:ea typeface="Calibri"/>
                <a:cs typeface="Calibri"/>
                <a:sym typeface="Calibri"/>
              </a:rPr>
              <a:t>03</a:t>
            </a:r>
            <a:endParaRPr b="0" i="0" sz="1193" u="none" cap="none" strike="noStrike">
              <a:solidFill>
                <a:schemeClr val="dk1"/>
              </a:solidFill>
              <a:latin typeface="Calibri"/>
              <a:ea typeface="Calibri"/>
              <a:cs typeface="Calibri"/>
              <a:sym typeface="Calibri"/>
            </a:endParaRPr>
          </a:p>
        </p:txBody>
      </p:sp>
      <p:sp>
        <p:nvSpPr>
          <p:cNvPr id="62" name="Google Shape;62;p3"/>
          <p:cNvSpPr/>
          <p:nvPr/>
        </p:nvSpPr>
        <p:spPr>
          <a:xfrm>
            <a:off x="964406" y="2791281"/>
            <a:ext cx="1785938"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1000" u="none" cap="none" strike="noStrike">
                <a:solidFill>
                  <a:srgbClr val="00FFCC"/>
                </a:solidFill>
                <a:latin typeface="Calibri"/>
                <a:ea typeface="Calibri"/>
                <a:cs typeface="Calibri"/>
                <a:sym typeface="Calibri"/>
              </a:rPr>
              <a:t>Feature Normalization</a:t>
            </a:r>
            <a:endParaRPr b="0" i="0" sz="1000" u="none" cap="none" strike="noStrike">
              <a:solidFill>
                <a:schemeClr val="dk1"/>
              </a:solidFill>
              <a:latin typeface="Calibri"/>
              <a:ea typeface="Calibri"/>
              <a:cs typeface="Calibri"/>
              <a:sym typeface="Calibri"/>
            </a:endParaRPr>
          </a:p>
        </p:txBody>
      </p:sp>
      <p:sp>
        <p:nvSpPr>
          <p:cNvPr id="63" name="Google Shape;63;p3"/>
          <p:cNvSpPr/>
          <p:nvPr/>
        </p:nvSpPr>
        <p:spPr>
          <a:xfrm>
            <a:off x="2893219" y="2798787"/>
            <a:ext cx="4652925" cy="160009"/>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1034" u="none" cap="none" strike="noStrike">
                <a:solidFill>
                  <a:srgbClr val="E0E0E0"/>
                </a:solidFill>
                <a:latin typeface="Calibri"/>
                <a:ea typeface="Calibri"/>
                <a:cs typeface="Calibri"/>
                <a:sym typeface="Calibri"/>
              </a:rPr>
              <a:t>Standardizing diverse metrics (density, damage, infrastructure) into a 0-1 priority scale.</a:t>
            </a:r>
            <a:endParaRPr b="0" i="0" sz="1034" u="none" cap="none" strike="noStrike">
              <a:solidFill>
                <a:schemeClr val="dk1"/>
              </a:solidFill>
              <a:latin typeface="Calibri"/>
              <a:ea typeface="Calibri"/>
              <a:cs typeface="Calibri"/>
              <a:sym typeface="Calibri"/>
            </a:endParaRPr>
          </a:p>
        </p:txBody>
      </p:sp>
      <p:sp>
        <p:nvSpPr>
          <p:cNvPr id="64" name="Google Shape;64;p3"/>
          <p:cNvSpPr/>
          <p:nvPr/>
        </p:nvSpPr>
        <p:spPr>
          <a:xfrm>
            <a:off x="428625" y="3188652"/>
            <a:ext cx="8286750" cy="462558"/>
          </a:xfrm>
          <a:prstGeom prst="rect">
            <a:avLst/>
          </a:prstGeom>
          <a:solidFill>
            <a:srgbClr val="FFFFFF">
              <a:alpha val="1960"/>
            </a:srgbClr>
          </a:solidFill>
          <a:ln cap="flat" cmpd="sng" w="9525">
            <a:solidFill>
              <a:srgbClr val="A0A0A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535781" y="3295808"/>
            <a:ext cx="285750"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FFCC"/>
              </a:buClr>
              <a:buSzPts val="1193"/>
              <a:buFont typeface="Calibri"/>
              <a:buNone/>
            </a:pPr>
            <a:r>
              <a:rPr b="1" i="0" lang="en-US" sz="1193" u="none" cap="none" strike="noStrike">
                <a:solidFill>
                  <a:srgbClr val="00FFCC"/>
                </a:solidFill>
                <a:latin typeface="Calibri"/>
                <a:ea typeface="Calibri"/>
                <a:cs typeface="Calibri"/>
                <a:sym typeface="Calibri"/>
              </a:rPr>
              <a:t>04</a:t>
            </a:r>
            <a:endParaRPr b="0" i="0" sz="1193" u="none" cap="none" strike="noStrike">
              <a:solidFill>
                <a:schemeClr val="dk1"/>
              </a:solidFill>
              <a:latin typeface="Calibri"/>
              <a:ea typeface="Calibri"/>
              <a:cs typeface="Calibri"/>
              <a:sym typeface="Calibri"/>
            </a:endParaRPr>
          </a:p>
        </p:txBody>
      </p:sp>
      <p:sp>
        <p:nvSpPr>
          <p:cNvPr id="66" name="Google Shape;66;p3"/>
          <p:cNvSpPr/>
          <p:nvPr/>
        </p:nvSpPr>
        <p:spPr>
          <a:xfrm>
            <a:off x="964406" y="3325276"/>
            <a:ext cx="1785938"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1000" u="none" cap="none" strike="noStrike">
                <a:solidFill>
                  <a:srgbClr val="00FFCC"/>
                </a:solidFill>
                <a:latin typeface="Calibri"/>
                <a:ea typeface="Calibri"/>
                <a:cs typeface="Calibri"/>
                <a:sym typeface="Calibri"/>
              </a:rPr>
              <a:t>Network Topology</a:t>
            </a:r>
            <a:endParaRPr b="0" i="0" sz="1000" u="none" cap="none" strike="noStrike">
              <a:solidFill>
                <a:schemeClr val="dk1"/>
              </a:solidFill>
              <a:latin typeface="Calibri"/>
              <a:ea typeface="Calibri"/>
              <a:cs typeface="Calibri"/>
              <a:sym typeface="Calibri"/>
            </a:endParaRPr>
          </a:p>
        </p:txBody>
      </p:sp>
      <p:sp>
        <p:nvSpPr>
          <p:cNvPr id="67" name="Google Shape;67;p3"/>
          <p:cNvSpPr/>
          <p:nvPr/>
        </p:nvSpPr>
        <p:spPr>
          <a:xfrm>
            <a:off x="2893219" y="3332783"/>
            <a:ext cx="4957763" cy="160009"/>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1034" u="none" cap="none" strike="noStrike">
                <a:solidFill>
                  <a:srgbClr val="E0E0E0"/>
                </a:solidFill>
                <a:latin typeface="Calibri"/>
                <a:ea typeface="Calibri"/>
                <a:cs typeface="Calibri"/>
                <a:sym typeface="Calibri"/>
              </a:rPr>
              <a:t>Analyzing connectivity importance using Edge Betweenness Centrality for all road segments.</a:t>
            </a:r>
            <a:endParaRPr b="0" i="0" sz="1034" u="none" cap="none" strike="noStrike">
              <a:solidFill>
                <a:schemeClr val="dk1"/>
              </a:solidFill>
              <a:latin typeface="Calibri"/>
              <a:ea typeface="Calibri"/>
              <a:cs typeface="Calibri"/>
              <a:sym typeface="Calibri"/>
            </a:endParaRPr>
          </a:p>
        </p:txBody>
      </p:sp>
      <p:sp>
        <p:nvSpPr>
          <p:cNvPr id="68" name="Google Shape;68;p3"/>
          <p:cNvSpPr/>
          <p:nvPr/>
        </p:nvSpPr>
        <p:spPr>
          <a:xfrm>
            <a:off x="428625" y="3722647"/>
            <a:ext cx="8286750" cy="462558"/>
          </a:xfrm>
          <a:prstGeom prst="rect">
            <a:avLst/>
          </a:prstGeom>
          <a:solidFill>
            <a:srgbClr val="FFFFFF">
              <a:alpha val="1960"/>
            </a:srgbClr>
          </a:solidFill>
          <a:ln cap="flat" cmpd="sng" w="9525">
            <a:solidFill>
              <a:srgbClr val="A0A0A0">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535781" y="3829803"/>
            <a:ext cx="285750"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FFCC"/>
              </a:buClr>
              <a:buSzPts val="1193"/>
              <a:buFont typeface="Calibri"/>
              <a:buNone/>
            </a:pPr>
            <a:r>
              <a:rPr b="1" i="0" lang="en-US" sz="1193" u="none" cap="none" strike="noStrike">
                <a:solidFill>
                  <a:srgbClr val="00FFCC"/>
                </a:solidFill>
                <a:latin typeface="Calibri"/>
                <a:ea typeface="Calibri"/>
                <a:cs typeface="Calibri"/>
                <a:sym typeface="Calibri"/>
              </a:rPr>
              <a:t>05</a:t>
            </a:r>
            <a:endParaRPr b="0" i="0" sz="1193" u="none" cap="none" strike="noStrike">
              <a:solidFill>
                <a:schemeClr val="dk1"/>
              </a:solidFill>
              <a:latin typeface="Calibri"/>
              <a:ea typeface="Calibri"/>
              <a:cs typeface="Calibri"/>
              <a:sym typeface="Calibri"/>
            </a:endParaRPr>
          </a:p>
        </p:txBody>
      </p:sp>
      <p:sp>
        <p:nvSpPr>
          <p:cNvPr id="70" name="Google Shape;70;p3"/>
          <p:cNvSpPr/>
          <p:nvPr/>
        </p:nvSpPr>
        <p:spPr>
          <a:xfrm>
            <a:off x="964406" y="3859271"/>
            <a:ext cx="1785938"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1000" u="none" cap="none" strike="noStrike">
                <a:solidFill>
                  <a:srgbClr val="00FFCC"/>
                </a:solidFill>
                <a:latin typeface="Calibri"/>
                <a:ea typeface="Calibri"/>
                <a:cs typeface="Calibri"/>
                <a:sym typeface="Calibri"/>
              </a:rPr>
              <a:t>Intelligent Scoring</a:t>
            </a:r>
            <a:endParaRPr b="0" i="0" sz="1000" u="none" cap="none" strike="noStrike">
              <a:solidFill>
                <a:schemeClr val="dk1"/>
              </a:solidFill>
              <a:latin typeface="Calibri"/>
              <a:ea typeface="Calibri"/>
              <a:cs typeface="Calibri"/>
              <a:sym typeface="Calibri"/>
            </a:endParaRPr>
          </a:p>
        </p:txBody>
      </p:sp>
      <p:sp>
        <p:nvSpPr>
          <p:cNvPr id="71" name="Google Shape;71;p3"/>
          <p:cNvSpPr/>
          <p:nvPr/>
        </p:nvSpPr>
        <p:spPr>
          <a:xfrm>
            <a:off x="2893219" y="3866778"/>
            <a:ext cx="4636461" cy="160009"/>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1034" u="none" cap="none" strike="noStrike">
                <a:solidFill>
                  <a:srgbClr val="E0E0E0"/>
                </a:solidFill>
                <a:latin typeface="Calibri"/>
                <a:ea typeface="Calibri"/>
                <a:cs typeface="Calibri"/>
                <a:sym typeface="Calibri"/>
              </a:rPr>
              <a:t>Applying the AI scoring engine and K-Means clustering for final reconstruction classes.</a:t>
            </a:r>
            <a:endParaRPr b="0" i="0" sz="1034" u="none" cap="none" strike="noStrike">
              <a:solidFill>
                <a:schemeClr val="dk1"/>
              </a:solidFill>
              <a:latin typeface="Calibri"/>
              <a:ea typeface="Calibri"/>
              <a:cs typeface="Calibri"/>
              <a:sym typeface="Calibri"/>
            </a:endParaRPr>
          </a:p>
        </p:txBody>
      </p:sp>
      <p:sp>
        <p:nvSpPr>
          <p:cNvPr id="72" name="Google Shape;72;p3"/>
          <p:cNvSpPr/>
          <p:nvPr/>
        </p:nvSpPr>
        <p:spPr>
          <a:xfrm>
            <a:off x="428625" y="4456668"/>
            <a:ext cx="8286750" cy="507206"/>
          </a:xfrm>
          <a:prstGeom prst="rect">
            <a:avLst/>
          </a:prstGeom>
          <a:solidFill>
            <a:srgbClr val="00FFCC">
              <a:alpha val="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428625" y="4456668"/>
            <a:ext cx="21431" cy="507206"/>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428625" y="4456668"/>
            <a:ext cx="8286750" cy="507206"/>
          </a:xfrm>
          <a:prstGeom prst="rect">
            <a:avLst/>
          </a:prstGeom>
          <a:noFill/>
          <a:ln>
            <a:noFill/>
          </a:ln>
        </p:spPr>
        <p:txBody>
          <a:bodyPr anchorCtr="0" anchor="t" bIns="127500" lIns="127500" spcFirstLastPara="1" rIns="127500" wrap="square" tIns="127500">
            <a:spAutoFit/>
          </a:bodyPr>
          <a:lstStyle/>
          <a:p>
            <a:pPr indent="0" lvl="0" marL="0" marR="0" rtl="0" algn="l">
              <a:lnSpc>
                <a:spcPct val="128205"/>
              </a:lnSpc>
              <a:spcBef>
                <a:spcPts val="0"/>
              </a:spcBef>
              <a:spcAft>
                <a:spcPts val="0"/>
              </a:spcAft>
              <a:buClr>
                <a:srgbClr val="A0A0A0"/>
              </a:buClr>
              <a:buSzPts val="780"/>
              <a:buFont typeface="Calibri"/>
              <a:buNone/>
            </a:pPr>
            <a:r>
              <a:rPr b="0" i="0" lang="en-US" sz="880" u="none" cap="none" strike="noStrike">
                <a:solidFill>
                  <a:srgbClr val="A0A0A0"/>
                </a:solidFill>
                <a:latin typeface="Calibri"/>
                <a:ea typeface="Calibri"/>
                <a:cs typeface="Calibri"/>
                <a:sym typeface="Calibri"/>
              </a:rPr>
              <a:t>The </a:t>
            </a:r>
            <a:r>
              <a:rPr b="1" i="0" lang="en-US" sz="834" u="none" cap="none" strike="noStrike">
                <a:solidFill>
                  <a:srgbClr val="00FFCC"/>
                </a:solidFill>
                <a:latin typeface="Calibri"/>
                <a:ea typeface="Calibri"/>
                <a:cs typeface="Calibri"/>
                <a:sym typeface="Calibri"/>
              </a:rPr>
              <a:t>Data Loader</a:t>
            </a:r>
            <a:r>
              <a:rPr b="0" i="0" lang="en-US" sz="880" u="none" cap="none" strike="noStrike">
                <a:solidFill>
                  <a:srgbClr val="A0A0A0"/>
                </a:solidFill>
                <a:latin typeface="Calibri"/>
                <a:ea typeface="Calibri"/>
                <a:cs typeface="Calibri"/>
                <a:sym typeface="Calibri"/>
              </a:rPr>
              <a:t> initiates this process by preparing datasets and executing critical </a:t>
            </a:r>
            <a:r>
              <a:rPr b="1" i="0" lang="en-US" sz="834" u="none" cap="none" strike="noStrike">
                <a:solidFill>
                  <a:srgbClr val="00FFCC"/>
                </a:solidFill>
                <a:latin typeface="Calibri"/>
                <a:ea typeface="Calibri"/>
                <a:cs typeface="Calibri"/>
                <a:sym typeface="Calibri"/>
              </a:rPr>
              <a:t>spatial joins</a:t>
            </a:r>
            <a:r>
              <a:rPr b="0" i="0" lang="en-US" sz="880" u="none" cap="none" strike="noStrike">
                <a:solidFill>
                  <a:srgbClr val="A0A0A0"/>
                </a:solidFill>
                <a:latin typeface="Calibri"/>
                <a:ea typeface="Calibri"/>
                <a:cs typeface="Calibri"/>
                <a:sym typeface="Calibri"/>
              </a:rPr>
              <a:t> (sjoin_nearest) to link projects with their nearest infrastructure references.</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descr="preencoded.png" id="80" name="Google Shape;80;p4"/>
          <p:cNvPicPr preferRelativeResize="0"/>
          <p:nvPr/>
        </p:nvPicPr>
        <p:blipFill rotWithShape="1">
          <a:blip r:embed="rId3">
            <a:alphaModFix/>
          </a:blip>
          <a:srcRect b="0" l="0" r="0" t="0"/>
          <a:stretch/>
        </p:blipFill>
        <p:spPr>
          <a:xfrm>
            <a:off x="-188325" y="38944"/>
            <a:ext cx="9144000" cy="5143500"/>
          </a:xfrm>
          <a:prstGeom prst="rect">
            <a:avLst/>
          </a:prstGeom>
          <a:noFill/>
          <a:ln>
            <a:noFill/>
          </a:ln>
        </p:spPr>
      </p:pic>
      <p:sp>
        <p:nvSpPr>
          <p:cNvPr id="81" name="Google Shape;81;p4"/>
          <p:cNvSpPr/>
          <p:nvPr/>
        </p:nvSpPr>
        <p:spPr>
          <a:xfrm>
            <a:off x="0" y="0"/>
            <a:ext cx="9001125" cy="902317"/>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0" y="895173"/>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428625" y="475478"/>
            <a:ext cx="8572500"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Strategic AI Scoring Prioritizes Critical Infrastructure</a:t>
            </a:r>
            <a:endParaRPr b="0" i="0" sz="1602" u="none" cap="none" strike="noStrike">
              <a:solidFill>
                <a:schemeClr val="dk1"/>
              </a:solidFill>
              <a:latin typeface="Calibri"/>
              <a:ea typeface="Calibri"/>
              <a:cs typeface="Calibri"/>
              <a:sym typeface="Calibri"/>
            </a:endParaRPr>
          </a:p>
        </p:txBody>
      </p:sp>
      <p:sp>
        <p:nvSpPr>
          <p:cNvPr id="84" name="Google Shape;84;p4"/>
          <p:cNvSpPr/>
          <p:nvPr/>
        </p:nvSpPr>
        <p:spPr>
          <a:xfrm>
            <a:off x="428625" y="1238073"/>
            <a:ext cx="4557713" cy="617153"/>
          </a:xfrm>
          <a:prstGeom prst="rect">
            <a:avLst/>
          </a:prstGeom>
          <a:noFill/>
          <a:ln>
            <a:noFill/>
          </a:ln>
        </p:spPr>
        <p:txBody>
          <a:bodyPr anchorCtr="0" anchor="t" bIns="0" lIns="0" spcFirstLastPara="1" rIns="0" wrap="square" tIns="0">
            <a:spAutoFit/>
          </a:bodyPr>
          <a:lstStyle/>
          <a:p>
            <a:pPr indent="0" lvl="0" marL="0" marR="0" rtl="0" algn="l">
              <a:lnSpc>
                <a:spcPct val="169851"/>
              </a:lnSpc>
              <a:spcBef>
                <a:spcPts val="0"/>
              </a:spcBef>
              <a:spcAft>
                <a:spcPts val="0"/>
              </a:spcAft>
              <a:buClr>
                <a:srgbClr val="E0E0E0"/>
              </a:buClr>
              <a:buSzPts val="942"/>
              <a:buFont typeface="Calibri"/>
              <a:buNone/>
            </a:pPr>
            <a:r>
              <a:rPr b="0" i="0" lang="en-US" sz="1042" u="none" cap="none" strike="noStrike">
                <a:solidFill>
                  <a:srgbClr val="E0E0E0"/>
                </a:solidFill>
                <a:latin typeface="Calibri"/>
                <a:ea typeface="Calibri"/>
                <a:cs typeface="Calibri"/>
                <a:sym typeface="Calibri"/>
              </a:rPr>
              <a:t>The core Multi-Criteria Decision Analysis (MCDA) engine utilizes a Weighted Linear Combination (WLC) formula to determine reconstruction priorities, ensuring survival and emergency response are at the forefront.</a:t>
            </a:r>
            <a:endParaRPr b="0" i="0" sz="1042" u="none" cap="none" strike="noStrike">
              <a:solidFill>
                <a:schemeClr val="dk1"/>
              </a:solidFill>
              <a:latin typeface="Calibri"/>
              <a:ea typeface="Calibri"/>
              <a:cs typeface="Calibri"/>
              <a:sym typeface="Calibri"/>
            </a:endParaRPr>
          </a:p>
        </p:txBody>
      </p:sp>
      <p:sp>
        <p:nvSpPr>
          <p:cNvPr id="85" name="Google Shape;85;p4"/>
          <p:cNvSpPr/>
          <p:nvPr/>
        </p:nvSpPr>
        <p:spPr>
          <a:xfrm>
            <a:off x="428625" y="2033820"/>
            <a:ext cx="1287828" cy="432197"/>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4"/>
          <p:cNvSpPr/>
          <p:nvPr/>
        </p:nvSpPr>
        <p:spPr>
          <a:xfrm>
            <a:off x="428625" y="2451729"/>
            <a:ext cx="1287828"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428625" y="2033820"/>
            <a:ext cx="1287828" cy="432197"/>
          </a:xfrm>
          <a:prstGeom prst="rect">
            <a:avLst/>
          </a:prstGeom>
          <a:noFill/>
          <a:ln>
            <a:noFill/>
          </a:ln>
        </p:spPr>
        <p:txBody>
          <a:bodyPr anchorCtr="0" anchor="ctr" bIns="8500" lIns="127500" spcFirstLastPara="1" rIns="8500" wrap="square" tIns="127500">
            <a:spAutoFit/>
          </a:bodyPr>
          <a:lstStyle/>
          <a:p>
            <a:pPr indent="0" lvl="0" marL="0" marR="0" rtl="0" algn="l">
              <a:lnSpc>
                <a:spcPct val="140306"/>
              </a:lnSpc>
              <a:spcBef>
                <a:spcPts val="0"/>
              </a:spcBef>
              <a:spcAft>
                <a:spcPts val="0"/>
              </a:spcAft>
              <a:buClr>
                <a:srgbClr val="00FFCC"/>
              </a:buClr>
              <a:buSzPts val="784"/>
              <a:buFont typeface="Calibri"/>
              <a:buNone/>
            </a:pPr>
            <a:r>
              <a:rPr b="1" i="0" lang="en-US" sz="784" u="none" cap="none" strike="noStrike">
                <a:solidFill>
                  <a:srgbClr val="00FFCC"/>
                </a:solidFill>
                <a:latin typeface="Calibri"/>
                <a:ea typeface="Calibri"/>
                <a:cs typeface="Calibri"/>
                <a:sym typeface="Calibri"/>
              </a:rPr>
              <a:t>Criteria</a:t>
            </a:r>
            <a:endParaRPr b="0" i="0" sz="784" u="none" cap="none" strike="noStrike">
              <a:solidFill>
                <a:schemeClr val="dk1"/>
              </a:solidFill>
              <a:latin typeface="Calibri"/>
              <a:ea typeface="Calibri"/>
              <a:cs typeface="Calibri"/>
              <a:sym typeface="Calibri"/>
            </a:endParaRPr>
          </a:p>
        </p:txBody>
      </p:sp>
      <p:sp>
        <p:nvSpPr>
          <p:cNvPr id="88" name="Google Shape;88;p4"/>
          <p:cNvSpPr/>
          <p:nvPr/>
        </p:nvSpPr>
        <p:spPr>
          <a:xfrm>
            <a:off x="1716453" y="2033820"/>
            <a:ext cx="837465" cy="432197"/>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1716453" y="2451729"/>
            <a:ext cx="837465"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1716453" y="2033820"/>
            <a:ext cx="837465" cy="432197"/>
          </a:xfrm>
          <a:prstGeom prst="rect">
            <a:avLst/>
          </a:prstGeom>
          <a:noFill/>
          <a:ln>
            <a:noFill/>
          </a:ln>
        </p:spPr>
        <p:txBody>
          <a:bodyPr anchorCtr="0" anchor="ctr" bIns="8500" lIns="127500" spcFirstLastPara="1" rIns="8500" wrap="square" tIns="127500">
            <a:spAutoFit/>
          </a:bodyPr>
          <a:lstStyle/>
          <a:p>
            <a:pPr indent="0" lvl="0" marL="0" marR="0" rtl="0" algn="l">
              <a:lnSpc>
                <a:spcPct val="140306"/>
              </a:lnSpc>
              <a:spcBef>
                <a:spcPts val="0"/>
              </a:spcBef>
              <a:spcAft>
                <a:spcPts val="0"/>
              </a:spcAft>
              <a:buClr>
                <a:srgbClr val="00FFCC"/>
              </a:buClr>
              <a:buSzPts val="784"/>
              <a:buFont typeface="Calibri"/>
              <a:buNone/>
            </a:pPr>
            <a:r>
              <a:rPr b="1" i="0" lang="en-US" sz="784" u="none" cap="none" strike="noStrike">
                <a:solidFill>
                  <a:srgbClr val="00FFCC"/>
                </a:solidFill>
                <a:latin typeface="Calibri"/>
                <a:ea typeface="Calibri"/>
                <a:cs typeface="Calibri"/>
                <a:sym typeface="Calibri"/>
              </a:rPr>
              <a:t>Weight (w)</a:t>
            </a:r>
            <a:endParaRPr b="0" i="0" sz="784" u="none" cap="none" strike="noStrike">
              <a:solidFill>
                <a:schemeClr val="dk1"/>
              </a:solidFill>
              <a:latin typeface="Calibri"/>
              <a:ea typeface="Calibri"/>
              <a:cs typeface="Calibri"/>
              <a:sym typeface="Calibri"/>
            </a:endParaRPr>
          </a:p>
        </p:txBody>
      </p:sp>
      <p:sp>
        <p:nvSpPr>
          <p:cNvPr id="91" name="Google Shape;91;p4"/>
          <p:cNvSpPr/>
          <p:nvPr/>
        </p:nvSpPr>
        <p:spPr>
          <a:xfrm>
            <a:off x="2553919" y="2033820"/>
            <a:ext cx="2432419" cy="425053"/>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2553919" y="2444586"/>
            <a:ext cx="2432419"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2553919" y="2033820"/>
            <a:ext cx="2432419" cy="425053"/>
          </a:xfrm>
          <a:prstGeom prst="rect">
            <a:avLst/>
          </a:prstGeom>
          <a:noFill/>
          <a:ln>
            <a:noFill/>
          </a:ln>
        </p:spPr>
        <p:txBody>
          <a:bodyPr anchorCtr="0" anchor="ctr" bIns="8500" lIns="127500" spcFirstLastPara="1" rIns="8500" wrap="square" tIns="127500">
            <a:spAutoFit/>
          </a:bodyPr>
          <a:lstStyle/>
          <a:p>
            <a:pPr indent="0" lvl="0" marL="0" marR="0" rtl="0" algn="l">
              <a:lnSpc>
                <a:spcPct val="140306"/>
              </a:lnSpc>
              <a:spcBef>
                <a:spcPts val="0"/>
              </a:spcBef>
              <a:spcAft>
                <a:spcPts val="0"/>
              </a:spcAft>
              <a:buClr>
                <a:srgbClr val="00FFCC"/>
              </a:buClr>
              <a:buSzPts val="784"/>
              <a:buFont typeface="Calibri"/>
              <a:buNone/>
            </a:pPr>
            <a:r>
              <a:rPr b="1" i="0" lang="en-US" sz="784" u="none" cap="none" strike="noStrike">
                <a:solidFill>
                  <a:srgbClr val="00FFCC"/>
                </a:solidFill>
                <a:latin typeface="Calibri"/>
                <a:ea typeface="Calibri"/>
                <a:cs typeface="Calibri"/>
                <a:sym typeface="Calibri"/>
              </a:rPr>
              <a:t>Strategic Justification</a:t>
            </a:r>
            <a:endParaRPr b="0" i="0" sz="784" u="none" cap="none" strike="noStrike">
              <a:solidFill>
                <a:schemeClr val="dk1"/>
              </a:solidFill>
              <a:latin typeface="Calibri"/>
              <a:ea typeface="Calibri"/>
              <a:cs typeface="Calibri"/>
              <a:sym typeface="Calibri"/>
            </a:endParaRPr>
          </a:p>
        </p:txBody>
      </p:sp>
      <p:sp>
        <p:nvSpPr>
          <p:cNvPr id="94" name="Google Shape;94;p4"/>
          <p:cNvSpPr/>
          <p:nvPr/>
        </p:nvSpPr>
        <p:spPr>
          <a:xfrm>
            <a:off x="535781" y="2643718"/>
            <a:ext cx="896569"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E0E0E0"/>
              </a:buClr>
              <a:buSzPts val="784"/>
              <a:buFont typeface="Calibri"/>
              <a:buNone/>
            </a:pPr>
            <a:r>
              <a:rPr b="1" i="0" lang="en-US" sz="784" u="none" cap="none" strike="noStrike">
                <a:solidFill>
                  <a:srgbClr val="E0E0E0"/>
                </a:solidFill>
                <a:latin typeface="Calibri"/>
                <a:ea typeface="Calibri"/>
                <a:cs typeface="Calibri"/>
                <a:sym typeface="Calibri"/>
              </a:rPr>
              <a:t>Major Hospitals</a:t>
            </a:r>
            <a:endParaRPr b="0" i="0" sz="784" u="none" cap="none" strike="noStrike">
              <a:solidFill>
                <a:schemeClr val="dk1"/>
              </a:solidFill>
              <a:latin typeface="Calibri"/>
              <a:ea typeface="Calibri"/>
              <a:cs typeface="Calibri"/>
              <a:sym typeface="Calibri"/>
            </a:endParaRPr>
          </a:p>
        </p:txBody>
      </p:sp>
      <p:sp>
        <p:nvSpPr>
          <p:cNvPr id="95" name="Google Shape;95;p4"/>
          <p:cNvSpPr/>
          <p:nvPr/>
        </p:nvSpPr>
        <p:spPr>
          <a:xfrm>
            <a:off x="1716453" y="2458873"/>
            <a:ext cx="837465" cy="428625"/>
          </a:xfrm>
          <a:prstGeom prst="rect">
            <a:avLst/>
          </a:prstGeom>
          <a:noFill/>
          <a:ln>
            <a:noFill/>
          </a:ln>
        </p:spPr>
        <p:txBody>
          <a:bodyPr anchorCtr="0" anchor="ctr" bIns="8500" lIns="127500" spcFirstLastPara="1" rIns="8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lang="en-US" sz="885">
                <a:solidFill>
                  <a:srgbClr val="00FFCC"/>
                </a:solidFill>
                <a:latin typeface="Calibri"/>
                <a:ea typeface="Calibri"/>
                <a:cs typeface="Calibri"/>
                <a:sym typeface="Calibri"/>
              </a:rPr>
              <a:t>0.60</a:t>
            </a:r>
            <a:endParaRPr b="0" i="0" sz="885" u="none" cap="none" strike="noStrike">
              <a:solidFill>
                <a:schemeClr val="dk1"/>
              </a:solidFill>
              <a:latin typeface="Calibri"/>
              <a:ea typeface="Calibri"/>
              <a:cs typeface="Calibri"/>
              <a:sym typeface="Calibri"/>
            </a:endParaRPr>
          </a:p>
        </p:txBody>
      </p:sp>
      <p:sp>
        <p:nvSpPr>
          <p:cNvPr id="96" name="Google Shape;96;p4"/>
          <p:cNvSpPr/>
          <p:nvPr/>
        </p:nvSpPr>
        <p:spPr>
          <a:xfrm>
            <a:off x="2553919" y="2458873"/>
            <a:ext cx="2432419" cy="428625"/>
          </a:xfrm>
          <a:prstGeom prst="rect">
            <a:avLst/>
          </a:prstGeom>
          <a:noFill/>
          <a:ln>
            <a:noFill/>
          </a:ln>
        </p:spPr>
        <p:txBody>
          <a:bodyPr anchorCtr="0" anchor="ctr" bIns="8500" lIns="127500" spcFirstLastPara="1" rIns="8500" wrap="square" tIns="127500">
            <a:spAutoFit/>
          </a:bodyPr>
          <a:lstStyle/>
          <a:p>
            <a:pPr indent="0" lvl="0" marL="0" marR="0" rtl="0" algn="l">
              <a:lnSpc>
                <a:spcPct val="131894"/>
              </a:lnSpc>
              <a:spcBef>
                <a:spcPts val="0"/>
              </a:spcBef>
              <a:spcAft>
                <a:spcPts val="0"/>
              </a:spcAft>
              <a:buClr>
                <a:srgbClr val="E0E0E0"/>
              </a:buClr>
              <a:buSzPts val="834"/>
              <a:buFont typeface="Calibri"/>
              <a:buNone/>
            </a:pPr>
            <a:r>
              <a:rPr b="0" i="0" lang="en-US" sz="934" u="none" cap="none" strike="noStrike">
                <a:solidFill>
                  <a:srgbClr val="E0E0E0"/>
                </a:solidFill>
                <a:latin typeface="Calibri"/>
                <a:ea typeface="Calibri"/>
                <a:cs typeface="Calibri"/>
                <a:sym typeface="Calibri"/>
              </a:rPr>
              <a:t>Critical for survival and emergency response.</a:t>
            </a:r>
            <a:endParaRPr b="0" i="0" sz="934" u="none" cap="none" strike="noStrike">
              <a:solidFill>
                <a:schemeClr val="dk1"/>
              </a:solidFill>
              <a:latin typeface="Calibri"/>
              <a:ea typeface="Calibri"/>
              <a:cs typeface="Calibri"/>
              <a:sym typeface="Calibri"/>
            </a:endParaRPr>
          </a:p>
        </p:txBody>
      </p:sp>
      <p:sp>
        <p:nvSpPr>
          <p:cNvPr id="97" name="Google Shape;97;p4"/>
          <p:cNvSpPr/>
          <p:nvPr/>
        </p:nvSpPr>
        <p:spPr>
          <a:xfrm>
            <a:off x="535781" y="3008049"/>
            <a:ext cx="966750"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E0E0E0"/>
              </a:buClr>
              <a:buSzPts val="784"/>
              <a:buFont typeface="Calibri"/>
              <a:buNone/>
            </a:pPr>
            <a:r>
              <a:rPr b="1" i="0" lang="en-US" sz="784" u="none" cap="none" strike="noStrike">
                <a:solidFill>
                  <a:srgbClr val="E0E0E0"/>
                </a:solidFill>
                <a:latin typeface="Calibri"/>
                <a:ea typeface="Calibri"/>
                <a:cs typeface="Calibri"/>
                <a:sym typeface="Calibri"/>
              </a:rPr>
              <a:t>Damage Severity</a:t>
            </a:r>
            <a:endParaRPr b="0" i="0" sz="784" u="none" cap="none" strike="noStrike">
              <a:solidFill>
                <a:schemeClr val="dk1"/>
              </a:solidFill>
              <a:latin typeface="Calibri"/>
              <a:ea typeface="Calibri"/>
              <a:cs typeface="Calibri"/>
              <a:sym typeface="Calibri"/>
            </a:endParaRPr>
          </a:p>
        </p:txBody>
      </p:sp>
      <p:sp>
        <p:nvSpPr>
          <p:cNvPr id="98" name="Google Shape;98;p4"/>
          <p:cNvSpPr/>
          <p:nvPr/>
        </p:nvSpPr>
        <p:spPr>
          <a:xfrm>
            <a:off x="1716453" y="2887498"/>
            <a:ext cx="837465" cy="296466"/>
          </a:xfrm>
          <a:prstGeom prst="rect">
            <a:avLst/>
          </a:prstGeom>
          <a:noFill/>
          <a:ln>
            <a:noFill/>
          </a:ln>
        </p:spPr>
        <p:txBody>
          <a:bodyPr anchorCtr="0" anchor="ctr" bIns="8500" lIns="127500" spcFirstLastPara="1" rIns="8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0.</a:t>
            </a:r>
            <a:r>
              <a:rPr b="1" lang="en-US" sz="885">
                <a:solidFill>
                  <a:srgbClr val="00FFCC"/>
                </a:solidFill>
                <a:latin typeface="Calibri"/>
                <a:ea typeface="Calibri"/>
                <a:cs typeface="Calibri"/>
                <a:sym typeface="Calibri"/>
              </a:rPr>
              <a:t>20</a:t>
            </a:r>
            <a:endParaRPr b="0" i="0" sz="885" u="none" cap="none" strike="noStrike">
              <a:solidFill>
                <a:schemeClr val="dk1"/>
              </a:solidFill>
              <a:latin typeface="Calibri"/>
              <a:ea typeface="Calibri"/>
              <a:cs typeface="Calibri"/>
              <a:sym typeface="Calibri"/>
            </a:endParaRPr>
          </a:p>
        </p:txBody>
      </p:sp>
      <p:sp>
        <p:nvSpPr>
          <p:cNvPr id="99" name="Google Shape;99;p4"/>
          <p:cNvSpPr/>
          <p:nvPr/>
        </p:nvSpPr>
        <p:spPr>
          <a:xfrm>
            <a:off x="2553919" y="2887498"/>
            <a:ext cx="2432419" cy="296466"/>
          </a:xfrm>
          <a:prstGeom prst="rect">
            <a:avLst/>
          </a:prstGeom>
          <a:noFill/>
          <a:ln>
            <a:noFill/>
          </a:ln>
        </p:spPr>
        <p:txBody>
          <a:bodyPr anchorCtr="0" anchor="ctr" bIns="8500" lIns="127500" spcFirstLastPara="1" rIns="8500" wrap="square" tIns="127500">
            <a:spAutoFit/>
          </a:bodyPr>
          <a:lstStyle/>
          <a:p>
            <a:pPr indent="0" lvl="0" marL="0" marR="0" rtl="0" algn="l">
              <a:lnSpc>
                <a:spcPct val="131894"/>
              </a:lnSpc>
              <a:spcBef>
                <a:spcPts val="0"/>
              </a:spcBef>
              <a:spcAft>
                <a:spcPts val="0"/>
              </a:spcAft>
              <a:buClr>
                <a:srgbClr val="E0E0E0"/>
              </a:buClr>
              <a:buSzPts val="834"/>
              <a:buFont typeface="Calibri"/>
              <a:buNone/>
            </a:pPr>
            <a:r>
              <a:rPr b="0" i="0" lang="en-US" sz="934" u="none" cap="none" strike="noStrike">
                <a:solidFill>
                  <a:srgbClr val="E0E0E0"/>
                </a:solidFill>
                <a:latin typeface="Calibri"/>
                <a:ea typeface="Calibri"/>
                <a:cs typeface="Calibri"/>
                <a:sym typeface="Calibri"/>
              </a:rPr>
              <a:t>Physical requirement for reconstruction.</a:t>
            </a:r>
            <a:endParaRPr b="0" i="0" sz="934" u="none" cap="none" strike="noStrike">
              <a:solidFill>
                <a:schemeClr val="dk1"/>
              </a:solidFill>
              <a:latin typeface="Calibri"/>
              <a:ea typeface="Calibri"/>
              <a:cs typeface="Calibri"/>
              <a:sym typeface="Calibri"/>
            </a:endParaRPr>
          </a:p>
        </p:txBody>
      </p:sp>
      <p:sp>
        <p:nvSpPr>
          <p:cNvPr id="100" name="Google Shape;100;p4"/>
          <p:cNvSpPr/>
          <p:nvPr/>
        </p:nvSpPr>
        <p:spPr>
          <a:xfrm>
            <a:off x="535781" y="3294692"/>
            <a:ext cx="658257" cy="310753"/>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E0E0E0"/>
              </a:buClr>
              <a:buSzPts val="784"/>
              <a:buFont typeface="Calibri"/>
              <a:buNone/>
            </a:pPr>
            <a:r>
              <a:rPr b="1" i="0" lang="en-US" sz="784" u="none" cap="none" strike="noStrike">
                <a:solidFill>
                  <a:srgbClr val="E0E0E0"/>
                </a:solidFill>
                <a:latin typeface="Calibri"/>
                <a:ea typeface="Calibri"/>
                <a:cs typeface="Calibri"/>
                <a:sym typeface="Calibri"/>
              </a:rPr>
              <a:t>Temporal Persistence</a:t>
            </a:r>
            <a:endParaRPr b="0" i="0" sz="784" u="none" cap="none" strike="noStrike">
              <a:solidFill>
                <a:schemeClr val="dk1"/>
              </a:solidFill>
              <a:latin typeface="Calibri"/>
              <a:ea typeface="Calibri"/>
              <a:cs typeface="Calibri"/>
              <a:sym typeface="Calibri"/>
            </a:endParaRPr>
          </a:p>
        </p:txBody>
      </p:sp>
      <p:sp>
        <p:nvSpPr>
          <p:cNvPr id="101" name="Google Shape;101;p4"/>
          <p:cNvSpPr/>
          <p:nvPr/>
        </p:nvSpPr>
        <p:spPr>
          <a:xfrm>
            <a:off x="1716453" y="3183964"/>
            <a:ext cx="837465" cy="432197"/>
          </a:xfrm>
          <a:prstGeom prst="rect">
            <a:avLst/>
          </a:prstGeom>
          <a:noFill/>
          <a:ln>
            <a:noFill/>
          </a:ln>
        </p:spPr>
        <p:txBody>
          <a:bodyPr anchorCtr="0" anchor="ctr" bIns="8500" lIns="127500" spcFirstLastPara="1" rIns="8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0.</a:t>
            </a:r>
            <a:r>
              <a:rPr b="1" lang="en-US" sz="885">
                <a:solidFill>
                  <a:srgbClr val="00FFCC"/>
                </a:solidFill>
                <a:latin typeface="Calibri"/>
                <a:ea typeface="Calibri"/>
                <a:cs typeface="Calibri"/>
                <a:sym typeface="Calibri"/>
              </a:rPr>
              <a:t>20</a:t>
            </a:r>
            <a:endParaRPr b="0" i="0" sz="885" u="none" cap="none" strike="noStrike">
              <a:solidFill>
                <a:schemeClr val="dk1"/>
              </a:solidFill>
              <a:latin typeface="Calibri"/>
              <a:ea typeface="Calibri"/>
              <a:cs typeface="Calibri"/>
              <a:sym typeface="Calibri"/>
            </a:endParaRPr>
          </a:p>
        </p:txBody>
      </p:sp>
      <p:sp>
        <p:nvSpPr>
          <p:cNvPr id="102" name="Google Shape;102;p4"/>
          <p:cNvSpPr/>
          <p:nvPr/>
        </p:nvSpPr>
        <p:spPr>
          <a:xfrm>
            <a:off x="2553919" y="3183964"/>
            <a:ext cx="2432419" cy="432197"/>
          </a:xfrm>
          <a:prstGeom prst="rect">
            <a:avLst/>
          </a:prstGeom>
          <a:noFill/>
          <a:ln>
            <a:noFill/>
          </a:ln>
        </p:spPr>
        <p:txBody>
          <a:bodyPr anchorCtr="0" anchor="ctr" bIns="8500" lIns="127500" spcFirstLastPara="1" rIns="8500" wrap="square" tIns="127500">
            <a:spAutoFit/>
          </a:bodyPr>
          <a:lstStyle/>
          <a:p>
            <a:pPr indent="0" lvl="0" marL="0" marR="0" rtl="0" algn="l">
              <a:lnSpc>
                <a:spcPct val="131894"/>
              </a:lnSpc>
              <a:spcBef>
                <a:spcPts val="0"/>
              </a:spcBef>
              <a:spcAft>
                <a:spcPts val="0"/>
              </a:spcAft>
              <a:buClr>
                <a:srgbClr val="E0E0E0"/>
              </a:buClr>
              <a:buSzPts val="834"/>
              <a:buFont typeface="Calibri"/>
              <a:buNone/>
            </a:pPr>
            <a:r>
              <a:rPr b="0" i="0" lang="en-US" sz="934" u="none" cap="none" strike="noStrike">
                <a:solidFill>
                  <a:srgbClr val="E0E0E0"/>
                </a:solidFill>
                <a:latin typeface="Calibri"/>
                <a:ea typeface="Calibri"/>
                <a:cs typeface="Calibri"/>
                <a:sym typeface="Calibri"/>
              </a:rPr>
              <a:t>Prioritizes long-term suffering areas.</a:t>
            </a:r>
            <a:endParaRPr b="0" i="0" sz="934" u="none" cap="none" strike="noStrike">
              <a:solidFill>
                <a:schemeClr val="dk1"/>
              </a:solidFill>
              <a:latin typeface="Calibri"/>
              <a:ea typeface="Calibri"/>
              <a:cs typeface="Calibri"/>
              <a:sym typeface="Calibri"/>
            </a:endParaRPr>
          </a:p>
        </p:txBody>
      </p:sp>
      <p:sp>
        <p:nvSpPr>
          <p:cNvPr id="103" name="Google Shape;103;p4"/>
          <p:cNvSpPr/>
          <p:nvPr/>
        </p:nvSpPr>
        <p:spPr>
          <a:xfrm>
            <a:off x="535781" y="3804577"/>
            <a:ext cx="1087469" cy="155377"/>
          </a:xfrm>
          <a:prstGeom prst="rect">
            <a:avLst/>
          </a:prstGeom>
          <a:noFill/>
          <a:ln>
            <a:noFill/>
          </a:ln>
        </p:spPr>
        <p:txBody>
          <a:bodyPr anchorCtr="0" anchor="t" bIns="0" lIns="0" spcFirstLastPara="1" rIns="0" wrap="square" tIns="0">
            <a:spAutoFit/>
          </a:bodyPr>
          <a:lstStyle/>
          <a:p>
            <a:pPr indent="0" lvl="0" marL="0" marR="0" rtl="0" algn="l">
              <a:lnSpc>
                <a:spcPct val="140306"/>
              </a:lnSpc>
              <a:spcBef>
                <a:spcPts val="0"/>
              </a:spcBef>
              <a:spcAft>
                <a:spcPts val="0"/>
              </a:spcAft>
              <a:buClr>
                <a:srgbClr val="E0E0E0"/>
              </a:buClr>
              <a:buSzPts val="784"/>
              <a:buFont typeface="Calibri"/>
              <a:buNone/>
            </a:pPr>
            <a:r>
              <a:rPr b="1" i="0" lang="en-US" sz="784" u="none" cap="none" strike="noStrike">
                <a:solidFill>
                  <a:srgbClr val="E0E0E0"/>
                </a:solidFill>
                <a:latin typeface="Calibri"/>
                <a:ea typeface="Calibri"/>
                <a:cs typeface="Calibri"/>
                <a:sym typeface="Calibri"/>
              </a:rPr>
              <a:t>Population Density</a:t>
            </a:r>
            <a:endParaRPr b="0" i="0" sz="784" u="none" cap="none" strike="noStrike">
              <a:solidFill>
                <a:schemeClr val="dk1"/>
              </a:solidFill>
              <a:latin typeface="Calibri"/>
              <a:ea typeface="Calibri"/>
              <a:cs typeface="Calibri"/>
              <a:sym typeface="Calibri"/>
            </a:endParaRPr>
          </a:p>
        </p:txBody>
      </p:sp>
      <p:sp>
        <p:nvSpPr>
          <p:cNvPr id="104" name="Google Shape;104;p4"/>
          <p:cNvSpPr/>
          <p:nvPr/>
        </p:nvSpPr>
        <p:spPr>
          <a:xfrm>
            <a:off x="1716453" y="3616161"/>
            <a:ext cx="837465" cy="432197"/>
          </a:xfrm>
          <a:prstGeom prst="rect">
            <a:avLst/>
          </a:prstGeom>
          <a:noFill/>
          <a:ln>
            <a:noFill/>
          </a:ln>
        </p:spPr>
        <p:txBody>
          <a:bodyPr anchorCtr="0" anchor="ctr" bIns="8500" lIns="127500" spcFirstLastPara="1" rIns="8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0.15</a:t>
            </a:r>
            <a:endParaRPr b="0" i="0" sz="885" u="none" cap="none" strike="noStrike">
              <a:solidFill>
                <a:schemeClr val="dk1"/>
              </a:solidFill>
              <a:latin typeface="Calibri"/>
              <a:ea typeface="Calibri"/>
              <a:cs typeface="Calibri"/>
              <a:sym typeface="Calibri"/>
            </a:endParaRPr>
          </a:p>
        </p:txBody>
      </p:sp>
      <p:sp>
        <p:nvSpPr>
          <p:cNvPr id="105" name="Google Shape;105;p4"/>
          <p:cNvSpPr/>
          <p:nvPr/>
        </p:nvSpPr>
        <p:spPr>
          <a:xfrm>
            <a:off x="2553919" y="3616161"/>
            <a:ext cx="2432419" cy="432197"/>
          </a:xfrm>
          <a:prstGeom prst="rect">
            <a:avLst/>
          </a:prstGeom>
          <a:noFill/>
          <a:ln>
            <a:noFill/>
          </a:ln>
        </p:spPr>
        <p:txBody>
          <a:bodyPr anchorCtr="0" anchor="ctr" bIns="8500" lIns="127500" spcFirstLastPara="1" rIns="8500" wrap="square" tIns="127500">
            <a:spAutoFit/>
          </a:bodyPr>
          <a:lstStyle/>
          <a:p>
            <a:pPr indent="0" lvl="0" marL="0" marR="0" rtl="0" algn="l">
              <a:lnSpc>
                <a:spcPct val="131894"/>
              </a:lnSpc>
              <a:spcBef>
                <a:spcPts val="0"/>
              </a:spcBef>
              <a:spcAft>
                <a:spcPts val="0"/>
              </a:spcAft>
              <a:buClr>
                <a:srgbClr val="E0E0E0"/>
              </a:buClr>
              <a:buSzPts val="834"/>
              <a:buFont typeface="Calibri"/>
              <a:buNone/>
            </a:pPr>
            <a:r>
              <a:rPr b="0" i="0" lang="en-US" sz="934" u="none" cap="none" strike="noStrike">
                <a:solidFill>
                  <a:srgbClr val="E0E0E0"/>
                </a:solidFill>
                <a:latin typeface="Calibri"/>
                <a:ea typeface="Calibri"/>
                <a:cs typeface="Calibri"/>
                <a:sym typeface="Calibri"/>
              </a:rPr>
              <a:t>Maximizes the number of direct beneficiaries.</a:t>
            </a:r>
            <a:endParaRPr b="0" i="0" sz="934" u="none" cap="none" strike="noStrike">
              <a:solidFill>
                <a:schemeClr val="dk1"/>
              </a:solidFill>
              <a:latin typeface="Calibri"/>
              <a:ea typeface="Calibri"/>
              <a:cs typeface="Calibri"/>
              <a:sym typeface="Calibri"/>
            </a:endParaRPr>
          </a:p>
        </p:txBody>
      </p:sp>
      <p:sp>
        <p:nvSpPr>
          <p:cNvPr id="106" name="Google Shape;106;p4"/>
          <p:cNvSpPr/>
          <p:nvPr/>
        </p:nvSpPr>
        <p:spPr>
          <a:xfrm>
            <a:off x="428625" y="4266242"/>
            <a:ext cx="4557713" cy="473273"/>
          </a:xfrm>
          <a:prstGeom prst="rect">
            <a:avLst/>
          </a:prstGeom>
          <a:solidFill>
            <a:srgbClr val="00FFCC">
              <a:alpha val="313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428625" y="4266242"/>
            <a:ext cx="14288" cy="473273"/>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571500" y="4373398"/>
            <a:ext cx="4414838" cy="194667"/>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00FFCC"/>
              </a:buClr>
              <a:buSzPts val="1050"/>
              <a:buFont typeface="Calibri"/>
              <a:buNone/>
            </a:pPr>
            <a:r>
              <a:rPr b="0" i="0" lang="en-US" sz="1050" u="none" cap="none" strike="noStrike">
                <a:solidFill>
                  <a:srgbClr val="00FFCC"/>
                </a:solidFill>
                <a:latin typeface="Calibri"/>
                <a:ea typeface="Calibri"/>
                <a:cs typeface="Calibri"/>
                <a:sym typeface="Calibri"/>
              </a:rPr>
              <a:t>Score = Σ (w_i × x_i) · α</a:t>
            </a:r>
            <a:endParaRPr b="0" i="0" sz="1050" u="none" cap="none" strike="noStrike">
              <a:solidFill>
                <a:schemeClr val="dk1"/>
              </a:solidFill>
              <a:latin typeface="Calibri"/>
              <a:ea typeface="Calibri"/>
              <a:cs typeface="Calibri"/>
              <a:sym typeface="Calibri"/>
            </a:endParaRPr>
          </a:p>
        </p:txBody>
      </p:sp>
      <p:sp>
        <p:nvSpPr>
          <p:cNvPr id="109" name="Google Shape;109;p4"/>
          <p:cNvSpPr/>
          <p:nvPr/>
        </p:nvSpPr>
        <p:spPr>
          <a:xfrm>
            <a:off x="571500" y="4603784"/>
            <a:ext cx="4414838"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Weighted Linear Combination with Non-Linear Activation</a:t>
            </a:r>
            <a:endParaRPr b="0" i="0" sz="727" u="none" cap="none" strike="noStrike">
              <a:solidFill>
                <a:schemeClr val="dk1"/>
              </a:solidFill>
              <a:latin typeface="Calibri"/>
              <a:ea typeface="Calibri"/>
              <a:cs typeface="Calibri"/>
              <a:sym typeface="Calibri"/>
            </a:endParaRPr>
          </a:p>
        </p:txBody>
      </p:sp>
      <p:sp>
        <p:nvSpPr>
          <p:cNvPr id="110" name="Google Shape;110;p4"/>
          <p:cNvSpPr/>
          <p:nvPr/>
        </p:nvSpPr>
        <p:spPr>
          <a:xfrm>
            <a:off x="5272088" y="1109486"/>
            <a:ext cx="3443288" cy="2300288"/>
          </a:xfrm>
          <a:prstGeom prst="rect">
            <a:avLst/>
          </a:prstGeom>
          <a:solidFill>
            <a:srgbClr val="00FFCC">
              <a:alpha val="5098"/>
            </a:srgbClr>
          </a:solidFill>
          <a:ln cap="flat" cmpd="sng" w="9525">
            <a:solidFill>
              <a:srgbClr val="00F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1" name="Google Shape;111;p4"/>
          <p:cNvPicPr preferRelativeResize="0"/>
          <p:nvPr/>
        </p:nvPicPr>
        <p:blipFill rotWithShape="1">
          <a:blip r:embed="rId4">
            <a:alphaModFix amt="80000"/>
          </a:blip>
          <a:srcRect b="0" l="0" r="0" t="0"/>
          <a:stretch/>
        </p:blipFill>
        <p:spPr>
          <a:xfrm>
            <a:off x="5286375" y="1109486"/>
            <a:ext cx="3429000" cy="2286000"/>
          </a:xfrm>
          <a:prstGeom prst="rect">
            <a:avLst/>
          </a:prstGeom>
          <a:noFill/>
          <a:ln>
            <a:noFill/>
          </a:ln>
        </p:spPr>
      </p:pic>
      <p:sp>
        <p:nvSpPr>
          <p:cNvPr id="112" name="Google Shape;112;p4"/>
          <p:cNvSpPr/>
          <p:nvPr/>
        </p:nvSpPr>
        <p:spPr>
          <a:xfrm>
            <a:off x="5286375" y="3502642"/>
            <a:ext cx="3429000" cy="135731"/>
          </a:xfrm>
          <a:prstGeom prst="rect">
            <a:avLst/>
          </a:prstGeom>
          <a:noFill/>
          <a:ln>
            <a:noFill/>
          </a:ln>
        </p:spPr>
        <p:txBody>
          <a:bodyPr anchorCtr="0" anchor="t" bIns="0" lIns="85075"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Impact analysis: Healthcare infrastructure damage</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preencoded.png" id="118" name="Google Shape;118;p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9" name="Google Shape;119;p5"/>
          <p:cNvSpPr/>
          <p:nvPr/>
        </p:nvSpPr>
        <p:spPr>
          <a:xfrm>
            <a:off x="0" y="0"/>
            <a:ext cx="9001125" cy="1214856"/>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0" y="1207712"/>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428625" y="475478"/>
            <a:ext cx="8572500" cy="62507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Spatial Join Analysis Identifies Strategic Healthcare Life-Lines</a:t>
            </a:r>
            <a:endParaRPr b="0" i="0" sz="1602" u="none" cap="none" strike="noStrike">
              <a:solidFill>
                <a:schemeClr val="dk1"/>
              </a:solidFill>
              <a:latin typeface="Calibri"/>
              <a:ea typeface="Calibri"/>
              <a:cs typeface="Calibri"/>
              <a:sym typeface="Calibri"/>
            </a:endParaRPr>
          </a:p>
        </p:txBody>
      </p:sp>
      <p:sp>
        <p:nvSpPr>
          <p:cNvPr id="122" name="Google Shape;122;p5"/>
          <p:cNvSpPr/>
          <p:nvPr/>
        </p:nvSpPr>
        <p:spPr>
          <a:xfrm>
            <a:off x="428625" y="1479175"/>
            <a:ext cx="8286750" cy="411435"/>
          </a:xfrm>
          <a:prstGeom prst="rect">
            <a:avLst/>
          </a:prstGeom>
          <a:noFill/>
          <a:ln>
            <a:noFill/>
          </a:ln>
        </p:spPr>
        <p:txBody>
          <a:bodyPr anchorCtr="0" anchor="t" bIns="0" lIns="0" spcFirstLastPara="1" rIns="0" wrap="square" tIns="0">
            <a:spAutoFit/>
          </a:bodyPr>
          <a:lstStyle/>
          <a:p>
            <a:pPr indent="0" lvl="0" marL="0" marR="0" rtl="0" algn="just">
              <a:lnSpc>
                <a:spcPct val="169851"/>
              </a:lnSpc>
              <a:spcBef>
                <a:spcPts val="0"/>
              </a:spcBef>
              <a:spcAft>
                <a:spcPts val="0"/>
              </a:spcAft>
              <a:buClr>
                <a:srgbClr val="E0E0E0"/>
              </a:buClr>
              <a:buSzPts val="942"/>
              <a:buFont typeface="Calibri"/>
              <a:buNone/>
            </a:pPr>
            <a:r>
              <a:rPr b="0" i="0" lang="en-US" sz="1042" u="none" cap="none" strike="noStrike">
                <a:solidFill>
                  <a:srgbClr val="E0E0E0"/>
                </a:solidFill>
                <a:latin typeface="Calibri"/>
                <a:ea typeface="Calibri"/>
                <a:cs typeface="Calibri"/>
                <a:sym typeface="Calibri"/>
              </a:rPr>
              <a:t>The system employs advanced spatial join techniques to prioritize medically sensitive roads based on their proximity to healthcare facilities. This practical GIS analysis ensures that critical emergency routes are identified and prioritized for immediate intervention.</a:t>
            </a:r>
            <a:endParaRPr b="0" i="0" sz="1042" u="none" cap="none" strike="noStrike">
              <a:solidFill>
                <a:schemeClr val="dk1"/>
              </a:solidFill>
              <a:latin typeface="Calibri"/>
              <a:ea typeface="Calibri"/>
              <a:cs typeface="Calibri"/>
              <a:sym typeface="Calibri"/>
            </a:endParaRPr>
          </a:p>
        </p:txBody>
      </p:sp>
      <p:sp>
        <p:nvSpPr>
          <p:cNvPr id="123" name="Google Shape;123;p5"/>
          <p:cNvSpPr/>
          <p:nvPr/>
        </p:nvSpPr>
        <p:spPr>
          <a:xfrm>
            <a:off x="428625" y="2069204"/>
            <a:ext cx="8286750" cy="1607344"/>
          </a:xfrm>
          <a:prstGeom prst="rect">
            <a:avLst/>
          </a:prstGeom>
          <a:solidFill>
            <a:srgbClr val="00FFCC">
              <a:alpha val="5098"/>
            </a:srgbClr>
          </a:solidFill>
          <a:ln cap="flat" cmpd="sng" w="9525">
            <a:solidFill>
              <a:srgbClr val="00FF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428625" y="2069204"/>
            <a:ext cx="3152794" cy="396478"/>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428625" y="2451395"/>
            <a:ext cx="3152794"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428625" y="2069204"/>
            <a:ext cx="3152794" cy="396478"/>
          </a:xfrm>
          <a:prstGeom prst="rect">
            <a:avLst/>
          </a:prstGeom>
          <a:noFill/>
          <a:ln>
            <a:noFill/>
          </a:ln>
        </p:spPr>
        <p:txBody>
          <a:bodyPr anchorCtr="0" anchor="ctr" bIns="127500" lIns="127500" spcFirstLastPara="1" rIns="127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Proximity to Hospital</a:t>
            </a:r>
            <a:endParaRPr b="0" i="0" sz="885" u="none" cap="none" strike="noStrike">
              <a:solidFill>
                <a:schemeClr val="dk1"/>
              </a:solidFill>
              <a:latin typeface="Calibri"/>
              <a:ea typeface="Calibri"/>
              <a:cs typeface="Calibri"/>
              <a:sym typeface="Calibri"/>
            </a:endParaRPr>
          </a:p>
        </p:txBody>
      </p:sp>
      <p:sp>
        <p:nvSpPr>
          <p:cNvPr id="127" name="Google Shape;127;p5"/>
          <p:cNvSpPr/>
          <p:nvPr/>
        </p:nvSpPr>
        <p:spPr>
          <a:xfrm>
            <a:off x="3581419" y="2069204"/>
            <a:ext cx="2980227" cy="396478"/>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3581419" y="2451395"/>
            <a:ext cx="2980227"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3581419" y="2069204"/>
            <a:ext cx="2980227" cy="396478"/>
          </a:xfrm>
          <a:prstGeom prst="rect">
            <a:avLst/>
          </a:prstGeom>
          <a:noFill/>
          <a:ln>
            <a:noFill/>
          </a:ln>
        </p:spPr>
        <p:txBody>
          <a:bodyPr anchorCtr="0" anchor="ctr" bIns="127500" lIns="127500" spcFirstLastPara="1" rIns="127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Strategy Adjustment</a:t>
            </a:r>
            <a:endParaRPr b="0" i="0" sz="885" u="none" cap="none" strike="noStrike">
              <a:solidFill>
                <a:schemeClr val="dk1"/>
              </a:solidFill>
              <a:latin typeface="Calibri"/>
              <a:ea typeface="Calibri"/>
              <a:cs typeface="Calibri"/>
              <a:sym typeface="Calibri"/>
            </a:endParaRPr>
          </a:p>
        </p:txBody>
      </p:sp>
      <p:sp>
        <p:nvSpPr>
          <p:cNvPr id="130" name="Google Shape;130;p5"/>
          <p:cNvSpPr/>
          <p:nvPr/>
        </p:nvSpPr>
        <p:spPr>
          <a:xfrm>
            <a:off x="6561646" y="2069204"/>
            <a:ext cx="2153729" cy="396478"/>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6561646" y="2451395"/>
            <a:ext cx="2153729"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6561646" y="2069204"/>
            <a:ext cx="2153729" cy="396478"/>
          </a:xfrm>
          <a:prstGeom prst="rect">
            <a:avLst/>
          </a:prstGeom>
          <a:noFill/>
          <a:ln>
            <a:noFill/>
          </a:ln>
        </p:spPr>
        <p:txBody>
          <a:bodyPr anchorCtr="0" anchor="ctr" bIns="127500" lIns="127500" spcFirstLastPara="1" rIns="127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Priority Level</a:t>
            </a:r>
            <a:endParaRPr b="0" i="0" sz="885" u="none" cap="none" strike="noStrike">
              <a:solidFill>
                <a:schemeClr val="dk1"/>
              </a:solidFill>
              <a:latin typeface="Calibri"/>
              <a:ea typeface="Calibri"/>
              <a:cs typeface="Calibri"/>
              <a:sym typeface="Calibri"/>
            </a:endParaRPr>
          </a:p>
        </p:txBody>
      </p:sp>
      <p:sp>
        <p:nvSpPr>
          <p:cNvPr id="133" name="Google Shape;133;p5"/>
          <p:cNvSpPr/>
          <p:nvPr/>
        </p:nvSpPr>
        <p:spPr>
          <a:xfrm>
            <a:off x="428625" y="2458538"/>
            <a:ext cx="3152794" cy="392906"/>
          </a:xfrm>
          <a:prstGeom prst="rect">
            <a:avLst/>
          </a:prstGeom>
          <a:noFill/>
          <a:ln>
            <a:noFill/>
          </a:ln>
        </p:spPr>
        <p:txBody>
          <a:bodyPr anchorCtr="0" anchor="ctr" bIns="127500" lIns="127500" spcFirstLastPara="1" rIns="127500" wrap="square" tIns="127500">
            <a:spAutoFit/>
          </a:bodyPr>
          <a:lstStyle/>
          <a:p>
            <a:pPr indent="0" lvl="0" marL="0" marR="0" rtl="0" algn="l">
              <a:lnSpc>
                <a:spcPct val="127388"/>
              </a:lnSpc>
              <a:spcBef>
                <a:spcPts val="0"/>
              </a:spcBef>
              <a:spcAft>
                <a:spcPts val="0"/>
              </a:spcAft>
              <a:buClr>
                <a:srgbClr val="E0E0E0"/>
              </a:buClr>
              <a:buSzPts val="942"/>
              <a:buFont typeface="Calibri"/>
              <a:buNone/>
            </a:pPr>
            <a:r>
              <a:rPr b="0" i="0" lang="en-US" sz="942" u="none" cap="none" strike="noStrike">
                <a:solidFill>
                  <a:srgbClr val="E0E0E0"/>
                </a:solidFill>
                <a:latin typeface="Calibri"/>
                <a:ea typeface="Calibri"/>
                <a:cs typeface="Calibri"/>
                <a:sym typeface="Calibri"/>
              </a:rPr>
              <a:t>Within 500m</a:t>
            </a:r>
            <a:endParaRPr b="0" i="0" sz="942" u="none" cap="none" strike="noStrike">
              <a:solidFill>
                <a:schemeClr val="dk1"/>
              </a:solidFill>
              <a:latin typeface="Calibri"/>
              <a:ea typeface="Calibri"/>
              <a:cs typeface="Calibri"/>
              <a:sym typeface="Calibri"/>
            </a:endParaRPr>
          </a:p>
        </p:txBody>
      </p:sp>
      <p:sp>
        <p:nvSpPr>
          <p:cNvPr id="134" name="Google Shape;134;p5"/>
          <p:cNvSpPr/>
          <p:nvPr/>
        </p:nvSpPr>
        <p:spPr>
          <a:xfrm>
            <a:off x="3581419" y="2458538"/>
            <a:ext cx="2980227" cy="392906"/>
          </a:xfrm>
          <a:prstGeom prst="rect">
            <a:avLst/>
          </a:prstGeom>
          <a:noFill/>
          <a:ln>
            <a:noFill/>
          </a:ln>
        </p:spPr>
        <p:txBody>
          <a:bodyPr anchorCtr="0" anchor="ctr" bIns="127500" lIns="127500" spcFirstLastPara="1" rIns="127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Strategic Score = 5</a:t>
            </a:r>
            <a:endParaRPr b="0" i="0" sz="885" u="none" cap="none" strike="noStrike">
              <a:solidFill>
                <a:schemeClr val="dk1"/>
              </a:solidFill>
              <a:latin typeface="Calibri"/>
              <a:ea typeface="Calibri"/>
              <a:cs typeface="Calibri"/>
              <a:sym typeface="Calibri"/>
            </a:endParaRPr>
          </a:p>
        </p:txBody>
      </p:sp>
      <p:sp>
        <p:nvSpPr>
          <p:cNvPr id="135" name="Google Shape;135;p5"/>
          <p:cNvSpPr/>
          <p:nvPr/>
        </p:nvSpPr>
        <p:spPr>
          <a:xfrm>
            <a:off x="6668802" y="2565695"/>
            <a:ext cx="915684"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E0E0E0"/>
              </a:buClr>
              <a:buSzPts val="885"/>
              <a:buFont typeface="Calibri"/>
              <a:buNone/>
            </a:pPr>
            <a:r>
              <a:rPr b="1" i="0" lang="en-US" sz="885" u="none" cap="none" strike="noStrike">
                <a:solidFill>
                  <a:srgbClr val="E0E0E0"/>
                </a:solidFill>
                <a:latin typeface="Calibri"/>
                <a:ea typeface="Calibri"/>
                <a:cs typeface="Calibri"/>
                <a:sym typeface="Calibri"/>
              </a:rPr>
              <a:t>Critical Access</a:t>
            </a:r>
            <a:endParaRPr b="0" i="0" sz="885" u="none" cap="none" strike="noStrike">
              <a:solidFill>
                <a:schemeClr val="dk1"/>
              </a:solidFill>
              <a:latin typeface="Calibri"/>
              <a:ea typeface="Calibri"/>
              <a:cs typeface="Calibri"/>
              <a:sym typeface="Calibri"/>
            </a:endParaRPr>
          </a:p>
        </p:txBody>
      </p:sp>
      <p:sp>
        <p:nvSpPr>
          <p:cNvPr id="136" name="Google Shape;136;p5"/>
          <p:cNvSpPr/>
          <p:nvPr/>
        </p:nvSpPr>
        <p:spPr>
          <a:xfrm>
            <a:off x="428625" y="2851445"/>
            <a:ext cx="3152794" cy="396478"/>
          </a:xfrm>
          <a:prstGeom prst="rect">
            <a:avLst/>
          </a:prstGeom>
          <a:noFill/>
          <a:ln>
            <a:noFill/>
          </a:ln>
        </p:spPr>
        <p:txBody>
          <a:bodyPr anchorCtr="0" anchor="ctr" bIns="127500" lIns="127500" spcFirstLastPara="1" rIns="127500" wrap="square" tIns="127500">
            <a:spAutoFit/>
          </a:bodyPr>
          <a:lstStyle/>
          <a:p>
            <a:pPr indent="0" lvl="0" marL="0" marR="0" rtl="0" algn="l">
              <a:lnSpc>
                <a:spcPct val="127388"/>
              </a:lnSpc>
              <a:spcBef>
                <a:spcPts val="0"/>
              </a:spcBef>
              <a:spcAft>
                <a:spcPts val="0"/>
              </a:spcAft>
              <a:buClr>
                <a:srgbClr val="E0E0E0"/>
              </a:buClr>
              <a:buSzPts val="942"/>
              <a:buFont typeface="Calibri"/>
              <a:buNone/>
            </a:pPr>
            <a:r>
              <a:rPr b="0" i="0" lang="en-US" sz="942" u="none" cap="none" strike="noStrike">
                <a:solidFill>
                  <a:srgbClr val="E0E0E0"/>
                </a:solidFill>
                <a:latin typeface="Calibri"/>
                <a:ea typeface="Calibri"/>
                <a:cs typeface="Calibri"/>
                <a:sym typeface="Calibri"/>
              </a:rPr>
              <a:t>500m - 1000m</a:t>
            </a:r>
            <a:endParaRPr b="0" i="0" sz="942" u="none" cap="none" strike="noStrike">
              <a:solidFill>
                <a:schemeClr val="dk1"/>
              </a:solidFill>
              <a:latin typeface="Calibri"/>
              <a:ea typeface="Calibri"/>
              <a:cs typeface="Calibri"/>
              <a:sym typeface="Calibri"/>
            </a:endParaRPr>
          </a:p>
        </p:txBody>
      </p:sp>
      <p:sp>
        <p:nvSpPr>
          <p:cNvPr id="137" name="Google Shape;137;p5"/>
          <p:cNvSpPr/>
          <p:nvPr/>
        </p:nvSpPr>
        <p:spPr>
          <a:xfrm>
            <a:off x="3581419" y="2851445"/>
            <a:ext cx="2980227" cy="396478"/>
          </a:xfrm>
          <a:prstGeom prst="rect">
            <a:avLst/>
          </a:prstGeom>
          <a:noFill/>
          <a:ln>
            <a:noFill/>
          </a:ln>
        </p:spPr>
        <p:txBody>
          <a:bodyPr anchorCtr="0" anchor="ctr" bIns="127500" lIns="127500" spcFirstLastPara="1" rIns="127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Strategic Score = 3</a:t>
            </a:r>
            <a:endParaRPr b="0" i="0" sz="885" u="none" cap="none" strike="noStrike">
              <a:solidFill>
                <a:schemeClr val="dk1"/>
              </a:solidFill>
              <a:latin typeface="Calibri"/>
              <a:ea typeface="Calibri"/>
              <a:cs typeface="Calibri"/>
              <a:sym typeface="Calibri"/>
            </a:endParaRPr>
          </a:p>
        </p:txBody>
      </p:sp>
      <p:sp>
        <p:nvSpPr>
          <p:cNvPr id="138" name="Google Shape;138;p5"/>
          <p:cNvSpPr/>
          <p:nvPr/>
        </p:nvSpPr>
        <p:spPr>
          <a:xfrm>
            <a:off x="6668802" y="2962173"/>
            <a:ext cx="821420"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E0E0E0"/>
              </a:buClr>
              <a:buSzPts val="885"/>
              <a:buFont typeface="Calibri"/>
              <a:buNone/>
            </a:pPr>
            <a:r>
              <a:rPr b="1" i="0" lang="en-US" sz="885" u="none" cap="none" strike="noStrike">
                <a:solidFill>
                  <a:srgbClr val="E0E0E0"/>
                </a:solidFill>
                <a:latin typeface="Calibri"/>
                <a:ea typeface="Calibri"/>
                <a:cs typeface="Calibri"/>
                <a:sym typeface="Calibri"/>
              </a:rPr>
              <a:t>High Priority</a:t>
            </a:r>
            <a:endParaRPr b="0" i="0" sz="885" u="none" cap="none" strike="noStrike">
              <a:solidFill>
                <a:schemeClr val="dk1"/>
              </a:solidFill>
              <a:latin typeface="Calibri"/>
              <a:ea typeface="Calibri"/>
              <a:cs typeface="Calibri"/>
              <a:sym typeface="Calibri"/>
            </a:endParaRPr>
          </a:p>
        </p:txBody>
      </p:sp>
      <p:sp>
        <p:nvSpPr>
          <p:cNvPr id="139" name="Google Shape;139;p5"/>
          <p:cNvSpPr/>
          <p:nvPr/>
        </p:nvSpPr>
        <p:spPr>
          <a:xfrm>
            <a:off x="428625" y="3247923"/>
            <a:ext cx="3152794" cy="396478"/>
          </a:xfrm>
          <a:prstGeom prst="rect">
            <a:avLst/>
          </a:prstGeom>
          <a:noFill/>
          <a:ln>
            <a:noFill/>
          </a:ln>
        </p:spPr>
        <p:txBody>
          <a:bodyPr anchorCtr="0" anchor="ctr" bIns="127500" lIns="127500" spcFirstLastPara="1" rIns="127500" wrap="square" tIns="127500">
            <a:spAutoFit/>
          </a:bodyPr>
          <a:lstStyle/>
          <a:p>
            <a:pPr indent="0" lvl="0" marL="0" marR="0" rtl="0" algn="l">
              <a:lnSpc>
                <a:spcPct val="127388"/>
              </a:lnSpc>
              <a:spcBef>
                <a:spcPts val="0"/>
              </a:spcBef>
              <a:spcAft>
                <a:spcPts val="0"/>
              </a:spcAft>
              <a:buClr>
                <a:srgbClr val="E0E0E0"/>
              </a:buClr>
              <a:buSzPts val="942"/>
              <a:buFont typeface="Calibri"/>
              <a:buNone/>
            </a:pPr>
            <a:r>
              <a:rPr b="0" i="0" lang="en-US" sz="942" u="none" cap="none" strike="noStrike">
                <a:solidFill>
                  <a:srgbClr val="E0E0E0"/>
                </a:solidFill>
                <a:latin typeface="Calibri"/>
                <a:ea typeface="Calibri"/>
                <a:cs typeface="Calibri"/>
                <a:sym typeface="Calibri"/>
              </a:rPr>
              <a:t>Beyond 1000m</a:t>
            </a:r>
            <a:endParaRPr b="0" i="0" sz="942" u="none" cap="none" strike="noStrike">
              <a:solidFill>
                <a:schemeClr val="dk1"/>
              </a:solidFill>
              <a:latin typeface="Calibri"/>
              <a:ea typeface="Calibri"/>
              <a:cs typeface="Calibri"/>
              <a:sym typeface="Calibri"/>
            </a:endParaRPr>
          </a:p>
        </p:txBody>
      </p:sp>
      <p:sp>
        <p:nvSpPr>
          <p:cNvPr id="140" name="Google Shape;140;p5"/>
          <p:cNvSpPr/>
          <p:nvPr/>
        </p:nvSpPr>
        <p:spPr>
          <a:xfrm>
            <a:off x="3581419" y="3247923"/>
            <a:ext cx="2980227" cy="396478"/>
          </a:xfrm>
          <a:prstGeom prst="rect">
            <a:avLst/>
          </a:prstGeom>
          <a:noFill/>
          <a:ln>
            <a:noFill/>
          </a:ln>
        </p:spPr>
        <p:txBody>
          <a:bodyPr anchorCtr="0" anchor="ctr" bIns="127500" lIns="127500" spcFirstLastPara="1" rIns="127500" wrap="square" tIns="12750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Standard Scoring</a:t>
            </a:r>
            <a:endParaRPr b="0" i="0" sz="885" u="none" cap="none" strike="noStrike">
              <a:solidFill>
                <a:schemeClr val="dk1"/>
              </a:solidFill>
              <a:latin typeface="Calibri"/>
              <a:ea typeface="Calibri"/>
              <a:cs typeface="Calibri"/>
              <a:sym typeface="Calibri"/>
            </a:endParaRPr>
          </a:p>
        </p:txBody>
      </p:sp>
      <p:sp>
        <p:nvSpPr>
          <p:cNvPr id="141" name="Google Shape;141;p5"/>
          <p:cNvSpPr/>
          <p:nvPr/>
        </p:nvSpPr>
        <p:spPr>
          <a:xfrm>
            <a:off x="6668802" y="3358651"/>
            <a:ext cx="1125810"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E0E0E0"/>
              </a:buClr>
              <a:buSzPts val="885"/>
              <a:buFont typeface="Calibri"/>
              <a:buNone/>
            </a:pPr>
            <a:r>
              <a:rPr b="1" i="0" lang="en-US" sz="885" u="none" cap="none" strike="noStrike">
                <a:solidFill>
                  <a:srgbClr val="E0E0E0"/>
                </a:solidFill>
                <a:latin typeface="Calibri"/>
                <a:ea typeface="Calibri"/>
                <a:cs typeface="Calibri"/>
                <a:sym typeface="Calibri"/>
              </a:rPr>
              <a:t>Secondary Access</a:t>
            </a:r>
            <a:endParaRPr b="0" i="0" sz="885" u="none" cap="none" strike="noStrike">
              <a:solidFill>
                <a:schemeClr val="dk1"/>
              </a:solidFill>
              <a:latin typeface="Calibri"/>
              <a:ea typeface="Calibri"/>
              <a:cs typeface="Calibri"/>
              <a:sym typeface="Calibri"/>
            </a:endParaRPr>
          </a:p>
        </p:txBody>
      </p:sp>
      <p:sp>
        <p:nvSpPr>
          <p:cNvPr id="142" name="Google Shape;142;p5"/>
          <p:cNvSpPr/>
          <p:nvPr/>
        </p:nvSpPr>
        <p:spPr>
          <a:xfrm>
            <a:off x="428625" y="3862285"/>
            <a:ext cx="8286750" cy="492919"/>
          </a:xfrm>
          <a:prstGeom prst="rect">
            <a:avLst/>
          </a:prstGeom>
          <a:noFill/>
          <a:ln>
            <a:noFill/>
          </a:ln>
        </p:spPr>
        <p:txBody>
          <a:bodyPr anchorCtr="0" anchor="t" bIns="0" lIns="0" spcFirstLastPara="1" rIns="0" wrap="square" tIns="170050">
            <a:spAutoFit/>
          </a:bodyPr>
          <a:lstStyle/>
          <a:p>
            <a:pPr indent="0" lvl="0" marL="0" marR="0" rtl="0" algn="l">
              <a:lnSpc>
                <a:spcPct val="167865"/>
              </a:lnSpc>
              <a:spcBef>
                <a:spcPts val="0"/>
              </a:spcBef>
              <a:spcAft>
                <a:spcPts val="0"/>
              </a:spcAft>
              <a:buClr>
                <a:srgbClr val="A0A0A0"/>
              </a:buClr>
              <a:buSzPts val="834"/>
              <a:buFont typeface="Calibri"/>
              <a:buNone/>
            </a:pPr>
            <a:r>
              <a:rPr b="0" i="0" lang="en-US" sz="934" u="none" cap="none" strike="noStrike">
                <a:solidFill>
                  <a:srgbClr val="A0A0A0"/>
                </a:solidFill>
                <a:latin typeface="Calibri"/>
                <a:ea typeface="Calibri"/>
                <a:cs typeface="Calibri"/>
                <a:sym typeface="Calibri"/>
              </a:rPr>
              <a:t>Each road segment is assigned to the nearest hospital with a </a:t>
            </a:r>
            <a:r>
              <a:rPr b="1" i="0" lang="en-US" sz="884" u="none" cap="none" strike="noStrike">
                <a:solidFill>
                  <a:srgbClr val="00FFCC"/>
                </a:solidFill>
                <a:latin typeface="Calibri"/>
                <a:ea typeface="Calibri"/>
                <a:cs typeface="Calibri"/>
                <a:sym typeface="Calibri"/>
              </a:rPr>
              <a:t>distance_to_hospital</a:t>
            </a:r>
            <a:r>
              <a:rPr b="0" i="0" lang="en-US" sz="934" u="none" cap="none" strike="noStrike">
                <a:solidFill>
                  <a:srgbClr val="A0A0A0"/>
                </a:solidFill>
                <a:latin typeface="Calibri"/>
                <a:ea typeface="Calibri"/>
                <a:cs typeface="Calibri"/>
                <a:sym typeface="Calibri"/>
              </a:rPr>
              <a:t> value. Roads within the 500m threshold are flagged as </a:t>
            </a:r>
            <a:r>
              <a:rPr b="1" i="0" lang="en-US" sz="884" u="none" cap="none" strike="noStrike">
                <a:solidFill>
                  <a:srgbClr val="00FFCC"/>
                </a:solidFill>
                <a:latin typeface="Calibri"/>
                <a:ea typeface="Calibri"/>
                <a:cs typeface="Calibri"/>
                <a:sym typeface="Calibri"/>
              </a:rPr>
              <a:t>near_hospital=True</a:t>
            </a:r>
            <a:r>
              <a:rPr b="0" i="0" lang="en-US" sz="934" u="none" cap="none" strike="noStrike">
                <a:solidFill>
                  <a:srgbClr val="A0A0A0"/>
                </a:solidFill>
                <a:latin typeface="Calibri"/>
                <a:ea typeface="Calibri"/>
                <a:cs typeface="Calibri"/>
                <a:sym typeface="Calibri"/>
              </a:rPr>
              <a:t>, triggering a maximum priority boost in the reconstruction roadmap.</a:t>
            </a:r>
            <a:endParaRPr b="0" i="0" sz="934" u="none" cap="none" strike="noStrike">
              <a:solidFill>
                <a:schemeClr val="dk1"/>
              </a:solidFill>
              <a:latin typeface="Calibri"/>
              <a:ea typeface="Calibri"/>
              <a:cs typeface="Calibri"/>
              <a:sym typeface="Calibri"/>
            </a:endParaRPr>
          </a:p>
        </p:txBody>
      </p:sp>
      <p:sp>
        <p:nvSpPr>
          <p:cNvPr id="143" name="Google Shape;143;p5"/>
          <p:cNvSpPr/>
          <p:nvPr/>
        </p:nvSpPr>
        <p:spPr>
          <a:xfrm>
            <a:off x="7181143" y="4580930"/>
            <a:ext cx="1534232" cy="348258"/>
          </a:xfrm>
          <a:prstGeom prst="rect">
            <a:avLst/>
          </a:prstGeom>
          <a:noFill/>
          <a:ln>
            <a:noFill/>
          </a:ln>
        </p:spPr>
        <p:txBody>
          <a:bodyPr anchorCtr="0" anchor="t" bIns="0" lIns="0" spcFirstLastPara="1" rIns="0" wrap="square" tIns="0">
            <a:spAutoFit/>
          </a:bodyPr>
          <a:lstStyle/>
          <a:p>
            <a:pPr indent="0" lvl="0" marL="0" marR="0" rtl="0" algn="r">
              <a:lnSpc>
                <a:spcPct val="128824"/>
              </a:lnSpc>
              <a:spcBef>
                <a:spcPts val="0"/>
              </a:spcBef>
              <a:spcAft>
                <a:spcPts val="0"/>
              </a:spcAft>
              <a:buClr>
                <a:srgbClr val="00FFCC"/>
              </a:buClr>
              <a:buSzPts val="621"/>
              <a:buFont typeface="Calibri"/>
              <a:buNone/>
            </a:pPr>
            <a:r>
              <a:rPr b="0" i="0" lang="en-US" sz="621" u="none" cap="none" strike="noStrike">
                <a:solidFill>
                  <a:srgbClr val="00FFCC"/>
                </a:solidFill>
                <a:latin typeface="Calibri"/>
                <a:ea typeface="Calibri"/>
                <a:cs typeface="Calibri"/>
                <a:sym typeface="Calibri"/>
              </a:rPr>
              <a:t>SPATIAL_JOIN_ENGINE_V1.0</a:t>
            </a:r>
            <a:br>
              <a:rPr b="0" i="0" lang="en-US" sz="621" u="none" cap="none" strike="noStrike">
                <a:solidFill>
                  <a:srgbClr val="00FFCC"/>
                </a:solidFill>
                <a:latin typeface="Calibri"/>
                <a:ea typeface="Calibri"/>
                <a:cs typeface="Calibri"/>
                <a:sym typeface="Calibri"/>
              </a:rPr>
            </a:br>
            <a:r>
              <a:rPr b="0" i="0" lang="en-US" sz="621" u="none" cap="none" strike="noStrike">
                <a:solidFill>
                  <a:srgbClr val="00FFCC"/>
                </a:solidFill>
                <a:latin typeface="Calibri"/>
                <a:ea typeface="Calibri"/>
                <a:cs typeface="Calibri"/>
                <a:sym typeface="Calibri"/>
              </a:rPr>
              <a:t> GIS_DISTANCE_ANALYSIS_ACTIVE</a:t>
            </a:r>
            <a:br>
              <a:rPr b="0" i="0" lang="en-US" sz="621" u="none" cap="none" strike="noStrike">
                <a:solidFill>
                  <a:srgbClr val="00FFCC"/>
                </a:solidFill>
                <a:latin typeface="Calibri"/>
                <a:ea typeface="Calibri"/>
                <a:cs typeface="Calibri"/>
                <a:sym typeface="Calibri"/>
              </a:rPr>
            </a:br>
            <a:r>
              <a:rPr b="0" i="0" lang="en-US" sz="621" u="none" cap="none" strike="noStrike">
                <a:solidFill>
                  <a:srgbClr val="00FFCC"/>
                </a:solidFill>
                <a:latin typeface="Calibri"/>
                <a:ea typeface="Calibri"/>
                <a:cs typeface="Calibri"/>
                <a:sym typeface="Calibri"/>
              </a:rPr>
              <a:t> [STATUS: MAPPING_CRITICAL_ACCESS]</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preencoded.png" id="149" name="Google Shape;149;p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0" name="Google Shape;150;p6"/>
          <p:cNvSpPr/>
          <p:nvPr/>
        </p:nvSpPr>
        <p:spPr>
          <a:xfrm>
            <a:off x="0" y="0"/>
            <a:ext cx="9001125" cy="902317"/>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0" y="895173"/>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428625" y="475478"/>
            <a:ext cx="8572500"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Dynamic Population Models Map Current Concentrations</a:t>
            </a:r>
            <a:endParaRPr b="0" i="0" sz="1602" u="none" cap="none" strike="noStrike">
              <a:solidFill>
                <a:schemeClr val="dk1"/>
              </a:solidFill>
              <a:latin typeface="Calibri"/>
              <a:ea typeface="Calibri"/>
              <a:cs typeface="Calibri"/>
              <a:sym typeface="Calibri"/>
            </a:endParaRPr>
          </a:p>
        </p:txBody>
      </p:sp>
      <p:sp>
        <p:nvSpPr>
          <p:cNvPr id="153" name="Google Shape;153;p6"/>
          <p:cNvSpPr/>
          <p:nvPr/>
        </p:nvSpPr>
        <p:spPr>
          <a:xfrm>
            <a:off x="428625" y="1202355"/>
            <a:ext cx="4557713" cy="771525"/>
          </a:xfrm>
          <a:prstGeom prst="rect">
            <a:avLst/>
          </a:prstGeom>
          <a:noFill/>
          <a:ln>
            <a:noFill/>
          </a:ln>
        </p:spPr>
        <p:txBody>
          <a:bodyPr anchorCtr="0" anchor="t" bIns="0" lIns="0" spcFirstLastPara="1" rIns="0" wrap="square" tIns="0">
            <a:spAutoFit/>
          </a:bodyPr>
          <a:lstStyle/>
          <a:p>
            <a:pPr indent="0" lvl="0" marL="0" marR="0" rtl="0" algn="just">
              <a:lnSpc>
                <a:spcPct val="159235"/>
              </a:lnSpc>
              <a:spcBef>
                <a:spcPts val="0"/>
              </a:spcBef>
              <a:spcAft>
                <a:spcPts val="0"/>
              </a:spcAft>
              <a:buClr>
                <a:srgbClr val="E0E0E0"/>
              </a:buClr>
              <a:buSzPts val="942"/>
              <a:buFont typeface="Calibri"/>
              <a:buNone/>
            </a:pPr>
            <a:r>
              <a:rPr b="0" i="0" lang="en-US" sz="942" u="none" cap="none" strike="noStrike">
                <a:solidFill>
                  <a:srgbClr val="E0E0E0"/>
                </a:solidFill>
                <a:latin typeface="Calibri"/>
                <a:ea typeface="Calibri"/>
                <a:cs typeface="Calibri"/>
                <a:sym typeface="Calibri"/>
              </a:rPr>
              <a:t>Baseline data from WorldPop 2020 has been adjusted using UN OCHA displacement estimates for 2025 and 2026 to reflect current ground realities. The model accounts for the massive population shift from high-destruction zones to reception hubs.</a:t>
            </a:r>
            <a:endParaRPr b="0" i="0" sz="942" u="none" cap="none" strike="noStrike">
              <a:solidFill>
                <a:schemeClr val="dk1"/>
              </a:solidFill>
              <a:latin typeface="Calibri"/>
              <a:ea typeface="Calibri"/>
              <a:cs typeface="Calibri"/>
              <a:sym typeface="Calibri"/>
            </a:endParaRPr>
          </a:p>
        </p:txBody>
      </p:sp>
      <p:sp>
        <p:nvSpPr>
          <p:cNvPr id="154" name="Google Shape;154;p6"/>
          <p:cNvSpPr/>
          <p:nvPr/>
        </p:nvSpPr>
        <p:spPr>
          <a:xfrm>
            <a:off x="432197" y="2120326"/>
            <a:ext cx="1372744" cy="296466"/>
          </a:xfrm>
          <a:prstGeom prst="rect">
            <a:avLst/>
          </a:prstGeom>
          <a:solidFill>
            <a:srgbClr val="00FFCC">
              <a:alpha val="10196"/>
            </a:srgbClr>
          </a:solidFill>
          <a:ln cap="flat" cmpd="sng" w="9525">
            <a:solidFill>
              <a:srgbClr val="00FF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432197" y="2120326"/>
            <a:ext cx="1372744"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36239"/>
              </a:lnSpc>
              <a:spcBef>
                <a:spcPts val="0"/>
              </a:spcBef>
              <a:spcAft>
                <a:spcPts val="0"/>
              </a:spcAft>
              <a:buClr>
                <a:srgbClr val="00FFCC"/>
              </a:buClr>
              <a:buSzPts val="734"/>
              <a:buFont typeface="Calibri"/>
              <a:buNone/>
            </a:pPr>
            <a:r>
              <a:rPr b="1" i="0" lang="en-US" sz="734" u="none" cap="none" strike="noStrike">
                <a:solidFill>
                  <a:srgbClr val="00FFCC"/>
                </a:solidFill>
                <a:latin typeface="Calibri"/>
                <a:ea typeface="Calibri"/>
                <a:cs typeface="Calibri"/>
                <a:sym typeface="Calibri"/>
              </a:rPr>
              <a:t>Region / Zone</a:t>
            </a:r>
            <a:endParaRPr b="0" i="0" sz="734" u="none" cap="none" strike="noStrike">
              <a:solidFill>
                <a:schemeClr val="dk1"/>
              </a:solidFill>
              <a:latin typeface="Calibri"/>
              <a:ea typeface="Calibri"/>
              <a:cs typeface="Calibri"/>
              <a:sym typeface="Calibri"/>
            </a:endParaRPr>
          </a:p>
        </p:txBody>
      </p:sp>
      <p:sp>
        <p:nvSpPr>
          <p:cNvPr id="156" name="Google Shape;156;p6"/>
          <p:cNvSpPr/>
          <p:nvPr/>
        </p:nvSpPr>
        <p:spPr>
          <a:xfrm>
            <a:off x="1804941" y="2120326"/>
            <a:ext cx="1487714" cy="296466"/>
          </a:xfrm>
          <a:prstGeom prst="rect">
            <a:avLst/>
          </a:prstGeom>
          <a:solidFill>
            <a:srgbClr val="00FFCC">
              <a:alpha val="10196"/>
            </a:srgbClr>
          </a:solidFill>
          <a:ln cap="flat" cmpd="sng" w="9525">
            <a:solidFill>
              <a:srgbClr val="00FF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1804941" y="2120326"/>
            <a:ext cx="1487714"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36239"/>
              </a:lnSpc>
              <a:spcBef>
                <a:spcPts val="0"/>
              </a:spcBef>
              <a:spcAft>
                <a:spcPts val="0"/>
              </a:spcAft>
              <a:buClr>
                <a:srgbClr val="00FFCC"/>
              </a:buClr>
              <a:buSzPts val="734"/>
              <a:buFont typeface="Calibri"/>
              <a:buNone/>
            </a:pPr>
            <a:r>
              <a:rPr b="1" i="0" lang="en-US" sz="734" u="none" cap="none" strike="noStrike">
                <a:solidFill>
                  <a:srgbClr val="00FFCC"/>
                </a:solidFill>
                <a:latin typeface="Calibri"/>
                <a:ea typeface="Calibri"/>
                <a:cs typeface="Calibri"/>
                <a:sym typeface="Calibri"/>
              </a:rPr>
              <a:t>Population Trend</a:t>
            </a:r>
            <a:endParaRPr b="0" i="0" sz="734" u="none" cap="none" strike="noStrike">
              <a:solidFill>
                <a:schemeClr val="dk1"/>
              </a:solidFill>
              <a:latin typeface="Calibri"/>
              <a:ea typeface="Calibri"/>
              <a:cs typeface="Calibri"/>
              <a:sym typeface="Calibri"/>
            </a:endParaRPr>
          </a:p>
        </p:txBody>
      </p:sp>
      <p:sp>
        <p:nvSpPr>
          <p:cNvPr id="158" name="Google Shape;158;p6"/>
          <p:cNvSpPr/>
          <p:nvPr/>
        </p:nvSpPr>
        <p:spPr>
          <a:xfrm>
            <a:off x="3291204" y="2120326"/>
            <a:ext cx="1691562" cy="296466"/>
          </a:xfrm>
          <a:prstGeom prst="rect">
            <a:avLst/>
          </a:prstGeom>
          <a:solidFill>
            <a:srgbClr val="00FFCC">
              <a:alpha val="10196"/>
            </a:srgbClr>
          </a:solidFill>
          <a:ln cap="flat" cmpd="sng" w="9525">
            <a:solidFill>
              <a:srgbClr val="00FF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3291204" y="2120326"/>
            <a:ext cx="1691562"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36239"/>
              </a:lnSpc>
              <a:spcBef>
                <a:spcPts val="0"/>
              </a:spcBef>
              <a:spcAft>
                <a:spcPts val="0"/>
              </a:spcAft>
              <a:buClr>
                <a:srgbClr val="00FFCC"/>
              </a:buClr>
              <a:buSzPts val="734"/>
              <a:buFont typeface="Calibri"/>
              <a:buNone/>
            </a:pPr>
            <a:r>
              <a:rPr b="1" i="0" lang="en-US" sz="734" u="none" cap="none" strike="noStrike">
                <a:solidFill>
                  <a:srgbClr val="00FFCC"/>
                </a:solidFill>
                <a:latin typeface="Calibri"/>
                <a:ea typeface="Calibri"/>
                <a:cs typeface="Calibri"/>
                <a:sym typeface="Calibri"/>
              </a:rPr>
              <a:t>Current Status</a:t>
            </a:r>
            <a:endParaRPr b="0" i="0" sz="734" u="none" cap="none" strike="noStrike">
              <a:solidFill>
                <a:schemeClr val="dk1"/>
              </a:solidFill>
              <a:latin typeface="Calibri"/>
              <a:ea typeface="Calibri"/>
              <a:cs typeface="Calibri"/>
              <a:sym typeface="Calibri"/>
            </a:endParaRPr>
          </a:p>
        </p:txBody>
      </p:sp>
      <p:sp>
        <p:nvSpPr>
          <p:cNvPr id="160" name="Google Shape;160;p6"/>
          <p:cNvSpPr/>
          <p:nvPr/>
        </p:nvSpPr>
        <p:spPr>
          <a:xfrm>
            <a:off x="432197" y="2409648"/>
            <a:ext cx="1375116"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0" lang="en-US" sz="780" u="none" cap="none" strike="noStrike">
                <a:solidFill>
                  <a:srgbClr val="E0E0E0"/>
                </a:solidFill>
                <a:latin typeface="Calibri"/>
                <a:ea typeface="Calibri"/>
                <a:cs typeface="Calibri"/>
                <a:sym typeface="Calibri"/>
              </a:rPr>
              <a:t>Nuseirat / Al-Zawayda</a:t>
            </a:r>
            <a:endParaRPr b="0" i="0" sz="780" u="none" cap="none" strike="noStrike">
              <a:solidFill>
                <a:schemeClr val="dk1"/>
              </a:solidFill>
              <a:latin typeface="Calibri"/>
              <a:ea typeface="Calibri"/>
              <a:cs typeface="Calibri"/>
              <a:sym typeface="Calibri"/>
            </a:endParaRPr>
          </a:p>
        </p:txBody>
      </p:sp>
      <p:sp>
        <p:nvSpPr>
          <p:cNvPr id="161" name="Google Shape;161;p6"/>
          <p:cNvSpPr/>
          <p:nvPr/>
        </p:nvSpPr>
        <p:spPr>
          <a:xfrm>
            <a:off x="1807313" y="2409648"/>
            <a:ext cx="1482440"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0" lang="en-US" sz="780" u="none" cap="none" strike="noStrike">
                <a:solidFill>
                  <a:srgbClr val="E0E0E0"/>
                </a:solidFill>
                <a:latin typeface="Calibri"/>
                <a:ea typeface="Calibri"/>
                <a:cs typeface="Calibri"/>
                <a:sym typeface="Calibri"/>
              </a:rPr>
              <a:t>2.5x Increase</a:t>
            </a:r>
            <a:endParaRPr b="0" i="0" sz="780" u="none" cap="none" strike="noStrike">
              <a:solidFill>
                <a:schemeClr val="dk1"/>
              </a:solidFill>
              <a:latin typeface="Calibri"/>
              <a:ea typeface="Calibri"/>
              <a:cs typeface="Calibri"/>
              <a:sym typeface="Calibri"/>
            </a:endParaRPr>
          </a:p>
        </p:txBody>
      </p:sp>
      <p:sp>
        <p:nvSpPr>
          <p:cNvPr id="162" name="Google Shape;162;p6"/>
          <p:cNvSpPr/>
          <p:nvPr/>
        </p:nvSpPr>
        <p:spPr>
          <a:xfrm>
            <a:off x="3289753" y="2409648"/>
            <a:ext cx="1693013"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36239"/>
              </a:lnSpc>
              <a:spcBef>
                <a:spcPts val="0"/>
              </a:spcBef>
              <a:spcAft>
                <a:spcPts val="0"/>
              </a:spcAft>
              <a:buClr>
                <a:srgbClr val="E0E0E0"/>
              </a:buClr>
              <a:buSzPts val="734"/>
              <a:buFont typeface="Calibri"/>
              <a:buNone/>
            </a:pPr>
            <a:r>
              <a:rPr b="1" i="0" lang="en-US" sz="734" u="none" cap="none" strike="noStrike">
                <a:solidFill>
                  <a:srgbClr val="E0E0E0"/>
                </a:solidFill>
                <a:latin typeface="Calibri"/>
                <a:ea typeface="Calibri"/>
                <a:cs typeface="Calibri"/>
                <a:sym typeface="Calibri"/>
              </a:rPr>
              <a:t>Primary IDP Hubs</a:t>
            </a:r>
            <a:endParaRPr b="0" i="0" sz="734" u="none" cap="none" strike="noStrike">
              <a:solidFill>
                <a:schemeClr val="dk1"/>
              </a:solidFill>
              <a:latin typeface="Calibri"/>
              <a:ea typeface="Calibri"/>
              <a:cs typeface="Calibri"/>
              <a:sym typeface="Calibri"/>
            </a:endParaRPr>
          </a:p>
        </p:txBody>
      </p:sp>
      <p:sp>
        <p:nvSpPr>
          <p:cNvPr id="163" name="Google Shape;163;p6"/>
          <p:cNvSpPr/>
          <p:nvPr/>
        </p:nvSpPr>
        <p:spPr>
          <a:xfrm>
            <a:off x="432197" y="2706114"/>
            <a:ext cx="1375116"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0" lang="en-US" sz="780" u="none" cap="none" strike="noStrike">
                <a:solidFill>
                  <a:srgbClr val="E0E0E0"/>
                </a:solidFill>
                <a:latin typeface="Calibri"/>
                <a:ea typeface="Calibri"/>
                <a:cs typeface="Calibri"/>
                <a:sym typeface="Calibri"/>
              </a:rPr>
              <a:t>West Khan Yunis</a:t>
            </a:r>
            <a:endParaRPr b="0" i="0" sz="780" u="none" cap="none" strike="noStrike">
              <a:solidFill>
                <a:schemeClr val="dk1"/>
              </a:solidFill>
              <a:latin typeface="Calibri"/>
              <a:ea typeface="Calibri"/>
              <a:cs typeface="Calibri"/>
              <a:sym typeface="Calibri"/>
            </a:endParaRPr>
          </a:p>
        </p:txBody>
      </p:sp>
      <p:sp>
        <p:nvSpPr>
          <p:cNvPr id="164" name="Google Shape;164;p6"/>
          <p:cNvSpPr/>
          <p:nvPr/>
        </p:nvSpPr>
        <p:spPr>
          <a:xfrm>
            <a:off x="1807313" y="2706114"/>
            <a:ext cx="1482440"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0" lang="en-US" sz="780" u="none" cap="none" strike="noStrike">
                <a:solidFill>
                  <a:srgbClr val="E0E0E0"/>
                </a:solidFill>
                <a:latin typeface="Calibri"/>
                <a:ea typeface="Calibri"/>
                <a:cs typeface="Calibri"/>
                <a:sym typeface="Calibri"/>
              </a:rPr>
              <a:t>High Concentration</a:t>
            </a:r>
            <a:endParaRPr b="0" i="0" sz="780" u="none" cap="none" strike="noStrike">
              <a:solidFill>
                <a:schemeClr val="dk1"/>
              </a:solidFill>
              <a:latin typeface="Calibri"/>
              <a:ea typeface="Calibri"/>
              <a:cs typeface="Calibri"/>
              <a:sym typeface="Calibri"/>
            </a:endParaRPr>
          </a:p>
        </p:txBody>
      </p:sp>
      <p:sp>
        <p:nvSpPr>
          <p:cNvPr id="165" name="Google Shape;165;p6"/>
          <p:cNvSpPr/>
          <p:nvPr/>
        </p:nvSpPr>
        <p:spPr>
          <a:xfrm>
            <a:off x="3289753" y="2706114"/>
            <a:ext cx="1693013"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36239"/>
              </a:lnSpc>
              <a:spcBef>
                <a:spcPts val="0"/>
              </a:spcBef>
              <a:spcAft>
                <a:spcPts val="0"/>
              </a:spcAft>
              <a:buClr>
                <a:srgbClr val="E0E0E0"/>
              </a:buClr>
              <a:buSzPts val="734"/>
              <a:buFont typeface="Calibri"/>
              <a:buNone/>
            </a:pPr>
            <a:r>
              <a:rPr b="1" i="0" lang="en-US" sz="734" u="none" cap="none" strike="noStrike">
                <a:solidFill>
                  <a:srgbClr val="E0E0E0"/>
                </a:solidFill>
                <a:latin typeface="Calibri"/>
                <a:ea typeface="Calibri"/>
                <a:cs typeface="Calibri"/>
                <a:sym typeface="Calibri"/>
              </a:rPr>
              <a:t>Dense Urban Centers</a:t>
            </a:r>
            <a:endParaRPr b="0" i="0" sz="734" u="none" cap="none" strike="noStrike">
              <a:solidFill>
                <a:schemeClr val="dk1"/>
              </a:solidFill>
              <a:latin typeface="Calibri"/>
              <a:ea typeface="Calibri"/>
              <a:cs typeface="Calibri"/>
              <a:sym typeface="Calibri"/>
            </a:endParaRPr>
          </a:p>
        </p:txBody>
      </p:sp>
      <p:sp>
        <p:nvSpPr>
          <p:cNvPr id="166" name="Google Shape;166;p6"/>
          <p:cNvSpPr/>
          <p:nvPr/>
        </p:nvSpPr>
        <p:spPr>
          <a:xfrm>
            <a:off x="432197" y="3002580"/>
            <a:ext cx="1375116"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0" lang="en-US" sz="780" u="none" cap="none" strike="noStrike">
                <a:solidFill>
                  <a:srgbClr val="E0E0E0"/>
                </a:solidFill>
                <a:latin typeface="Calibri"/>
                <a:ea typeface="Calibri"/>
                <a:cs typeface="Calibri"/>
                <a:sym typeface="Calibri"/>
              </a:rPr>
              <a:t>Al-Zawayda</a:t>
            </a:r>
            <a:endParaRPr b="0" i="0" sz="780" u="none" cap="none" strike="noStrike">
              <a:solidFill>
                <a:schemeClr val="dk1"/>
              </a:solidFill>
              <a:latin typeface="Calibri"/>
              <a:ea typeface="Calibri"/>
              <a:cs typeface="Calibri"/>
              <a:sym typeface="Calibri"/>
            </a:endParaRPr>
          </a:p>
        </p:txBody>
      </p:sp>
      <p:sp>
        <p:nvSpPr>
          <p:cNvPr id="167" name="Google Shape;167;p6"/>
          <p:cNvSpPr/>
          <p:nvPr/>
        </p:nvSpPr>
        <p:spPr>
          <a:xfrm>
            <a:off x="1807313" y="3002580"/>
            <a:ext cx="1482440"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0" lang="en-US" sz="780" u="none" cap="none" strike="noStrike">
                <a:solidFill>
                  <a:srgbClr val="E0E0E0"/>
                </a:solidFill>
                <a:latin typeface="Calibri"/>
                <a:ea typeface="Calibri"/>
                <a:cs typeface="Calibri"/>
                <a:sym typeface="Calibri"/>
              </a:rPr>
              <a:t>35,000 people/km²</a:t>
            </a:r>
            <a:endParaRPr b="0" i="0" sz="780" u="none" cap="none" strike="noStrike">
              <a:solidFill>
                <a:schemeClr val="dk1"/>
              </a:solidFill>
              <a:latin typeface="Calibri"/>
              <a:ea typeface="Calibri"/>
              <a:cs typeface="Calibri"/>
              <a:sym typeface="Calibri"/>
            </a:endParaRPr>
          </a:p>
        </p:txBody>
      </p:sp>
      <p:sp>
        <p:nvSpPr>
          <p:cNvPr id="168" name="Google Shape;168;p6"/>
          <p:cNvSpPr/>
          <p:nvPr/>
        </p:nvSpPr>
        <p:spPr>
          <a:xfrm>
            <a:off x="3289753" y="3002580"/>
            <a:ext cx="1693013"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36239"/>
              </a:lnSpc>
              <a:spcBef>
                <a:spcPts val="0"/>
              </a:spcBef>
              <a:spcAft>
                <a:spcPts val="0"/>
              </a:spcAft>
              <a:buClr>
                <a:srgbClr val="E0E0E0"/>
              </a:buClr>
              <a:buSzPts val="734"/>
              <a:buFont typeface="Calibri"/>
              <a:buNone/>
            </a:pPr>
            <a:r>
              <a:rPr b="1" i="0" lang="en-US" sz="734" u="none" cap="none" strike="noStrike">
                <a:solidFill>
                  <a:srgbClr val="E0E0E0"/>
                </a:solidFill>
                <a:latin typeface="Calibri"/>
                <a:ea typeface="Calibri"/>
                <a:cs typeface="Calibri"/>
                <a:sym typeface="Calibri"/>
              </a:rPr>
              <a:t>Extreme Density Spike</a:t>
            </a:r>
            <a:endParaRPr b="0" i="0" sz="734" u="none" cap="none" strike="noStrike">
              <a:solidFill>
                <a:schemeClr val="dk1"/>
              </a:solidFill>
              <a:latin typeface="Calibri"/>
              <a:ea typeface="Calibri"/>
              <a:cs typeface="Calibri"/>
              <a:sym typeface="Calibri"/>
            </a:endParaRPr>
          </a:p>
        </p:txBody>
      </p:sp>
      <p:sp>
        <p:nvSpPr>
          <p:cNvPr id="169" name="Google Shape;169;p6"/>
          <p:cNvSpPr/>
          <p:nvPr/>
        </p:nvSpPr>
        <p:spPr>
          <a:xfrm>
            <a:off x="432197" y="3299045"/>
            <a:ext cx="1375116"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0" lang="en-US" sz="780" u="none" cap="none" strike="noStrike">
                <a:solidFill>
                  <a:srgbClr val="E0E0E0"/>
                </a:solidFill>
                <a:latin typeface="Calibri"/>
                <a:ea typeface="Calibri"/>
                <a:cs typeface="Calibri"/>
                <a:sym typeface="Calibri"/>
              </a:rPr>
              <a:t>Jabalia / Beit Hanoun</a:t>
            </a:r>
            <a:endParaRPr b="0" i="0" sz="780" u="none" cap="none" strike="noStrike">
              <a:solidFill>
                <a:schemeClr val="dk1"/>
              </a:solidFill>
              <a:latin typeface="Calibri"/>
              <a:ea typeface="Calibri"/>
              <a:cs typeface="Calibri"/>
              <a:sym typeface="Calibri"/>
            </a:endParaRPr>
          </a:p>
        </p:txBody>
      </p:sp>
      <p:sp>
        <p:nvSpPr>
          <p:cNvPr id="170" name="Google Shape;170;p6"/>
          <p:cNvSpPr/>
          <p:nvPr/>
        </p:nvSpPr>
        <p:spPr>
          <a:xfrm>
            <a:off x="1807313" y="3299045"/>
            <a:ext cx="1482440"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0" lang="en-US" sz="780" u="none" cap="none" strike="noStrike">
                <a:solidFill>
                  <a:srgbClr val="E0E0E0"/>
                </a:solidFill>
                <a:latin typeface="Calibri"/>
                <a:ea typeface="Calibri"/>
                <a:cs typeface="Calibri"/>
                <a:sym typeface="Calibri"/>
              </a:rPr>
              <a:t>95% Displaced</a:t>
            </a:r>
            <a:endParaRPr b="0" i="0" sz="780" u="none" cap="none" strike="noStrike">
              <a:solidFill>
                <a:schemeClr val="dk1"/>
              </a:solidFill>
              <a:latin typeface="Calibri"/>
              <a:ea typeface="Calibri"/>
              <a:cs typeface="Calibri"/>
              <a:sym typeface="Calibri"/>
            </a:endParaRPr>
          </a:p>
        </p:txBody>
      </p:sp>
      <p:sp>
        <p:nvSpPr>
          <p:cNvPr id="171" name="Google Shape;171;p6"/>
          <p:cNvSpPr/>
          <p:nvPr/>
        </p:nvSpPr>
        <p:spPr>
          <a:xfrm>
            <a:off x="3289753" y="3299045"/>
            <a:ext cx="1693013" cy="296466"/>
          </a:xfrm>
          <a:prstGeom prst="rect">
            <a:avLst/>
          </a:prstGeom>
          <a:noFill/>
          <a:ln>
            <a:noFill/>
          </a:ln>
        </p:spPr>
        <p:txBody>
          <a:bodyPr anchorCtr="0" anchor="ctr" bIns="85075" lIns="85075" spcFirstLastPara="1" rIns="85075" wrap="square" tIns="85075">
            <a:spAutoFit/>
          </a:bodyPr>
          <a:lstStyle/>
          <a:p>
            <a:pPr indent="0" lvl="0" marL="0" marR="0" rtl="0" algn="l">
              <a:lnSpc>
                <a:spcPct val="128205"/>
              </a:lnSpc>
              <a:spcBef>
                <a:spcPts val="0"/>
              </a:spcBef>
              <a:spcAft>
                <a:spcPts val="0"/>
              </a:spcAft>
              <a:buClr>
                <a:srgbClr val="E0E0E0"/>
              </a:buClr>
              <a:buSzPts val="780"/>
              <a:buFont typeface="Calibri"/>
              <a:buNone/>
            </a:pPr>
            <a:r>
              <a:rPr b="0" i="1" lang="en-US" sz="780" u="none" cap="none" strike="noStrike">
                <a:solidFill>
                  <a:srgbClr val="E0E0E0"/>
                </a:solidFill>
                <a:latin typeface="Calibri"/>
                <a:ea typeface="Calibri"/>
                <a:cs typeface="Calibri"/>
                <a:sym typeface="Calibri"/>
              </a:rPr>
              <a:t>Semi-Vacated / High Damage</a:t>
            </a:r>
            <a:endParaRPr b="0" i="0" sz="780" u="none" cap="none" strike="noStrike">
              <a:solidFill>
                <a:schemeClr val="dk1"/>
              </a:solidFill>
              <a:latin typeface="Calibri"/>
              <a:ea typeface="Calibri"/>
              <a:cs typeface="Calibri"/>
              <a:sym typeface="Calibri"/>
            </a:endParaRPr>
          </a:p>
        </p:txBody>
      </p:sp>
      <p:sp>
        <p:nvSpPr>
          <p:cNvPr id="172" name="Google Shape;172;p6"/>
          <p:cNvSpPr/>
          <p:nvPr/>
        </p:nvSpPr>
        <p:spPr>
          <a:xfrm>
            <a:off x="428625" y="3777676"/>
            <a:ext cx="4557713" cy="678656"/>
          </a:xfrm>
          <a:prstGeom prst="rect">
            <a:avLst/>
          </a:prstGeom>
          <a:solidFill>
            <a:srgbClr val="00FFCC">
              <a:alpha val="1960"/>
            </a:srgbClr>
          </a:solidFill>
          <a:ln cap="flat" cmpd="sng" w="9525">
            <a:solidFill>
              <a:srgbClr val="00FFCC">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428625" y="3777676"/>
            <a:ext cx="4557713" cy="678656"/>
          </a:xfrm>
          <a:prstGeom prst="rect">
            <a:avLst/>
          </a:prstGeom>
          <a:noFill/>
          <a:ln>
            <a:noFill/>
          </a:ln>
        </p:spPr>
        <p:txBody>
          <a:bodyPr anchorCtr="0" anchor="t" bIns="127500" lIns="127500" spcFirstLastPara="1" rIns="127500" wrap="square" tIns="127500">
            <a:spAutoFit/>
          </a:bodyPr>
          <a:lstStyle/>
          <a:p>
            <a:pPr indent="0" lvl="0" marL="0" marR="0" rtl="0" algn="l">
              <a:lnSpc>
                <a:spcPct val="153846"/>
              </a:lnSpc>
              <a:spcBef>
                <a:spcPts val="0"/>
              </a:spcBef>
              <a:spcAft>
                <a:spcPts val="0"/>
              </a:spcAft>
              <a:buClr>
                <a:srgbClr val="A0A0A0"/>
              </a:buClr>
              <a:buSzPts val="780"/>
              <a:buFont typeface="Calibri"/>
              <a:buNone/>
            </a:pPr>
            <a:r>
              <a:rPr b="0" i="0" lang="en-US" sz="880" u="none" cap="none" strike="noStrike">
                <a:solidFill>
                  <a:srgbClr val="A0A0A0"/>
                </a:solidFill>
                <a:latin typeface="Calibri"/>
                <a:ea typeface="Calibri"/>
                <a:cs typeface="Calibri"/>
                <a:sym typeface="Calibri"/>
              </a:rPr>
              <a:t>The model prioritizes reconstruction in </a:t>
            </a:r>
            <a:r>
              <a:rPr b="1" i="0" lang="en-US" sz="834" u="none" cap="none" strike="noStrike">
                <a:solidFill>
                  <a:srgbClr val="A0A0A0"/>
                </a:solidFill>
                <a:latin typeface="Calibri"/>
                <a:ea typeface="Calibri"/>
                <a:cs typeface="Calibri"/>
                <a:sym typeface="Calibri"/>
              </a:rPr>
              <a:t>Central and Southern hubs</a:t>
            </a:r>
            <a:r>
              <a:rPr b="0" i="0" lang="en-US" sz="880" u="none" cap="none" strike="noStrike">
                <a:solidFill>
                  <a:srgbClr val="A0A0A0"/>
                </a:solidFill>
                <a:latin typeface="Calibri"/>
                <a:ea typeface="Calibri"/>
                <a:cs typeface="Calibri"/>
                <a:sym typeface="Calibri"/>
              </a:rPr>
              <a:t> where the population is currently concentrated, while maintaining strategic planning for return to the </a:t>
            </a:r>
            <a:r>
              <a:rPr b="1" i="0" lang="en-US" sz="834" u="none" cap="none" strike="noStrike">
                <a:solidFill>
                  <a:srgbClr val="A0A0A0"/>
                </a:solidFill>
                <a:latin typeface="Calibri"/>
                <a:ea typeface="Calibri"/>
                <a:cs typeface="Calibri"/>
                <a:sym typeface="Calibri"/>
              </a:rPr>
              <a:t>Northern zones</a:t>
            </a:r>
            <a:r>
              <a:rPr b="0" i="0" lang="en-US" sz="880" u="none" cap="none" strike="noStrike">
                <a:solidFill>
                  <a:srgbClr val="A0A0A0"/>
                </a:solidFill>
                <a:latin typeface="Calibri"/>
                <a:ea typeface="Calibri"/>
                <a:cs typeface="Calibri"/>
                <a:sym typeface="Calibri"/>
              </a:rPr>
              <a:t> as security and clearance allow.</a:t>
            </a:r>
            <a:endParaRPr b="0" i="0" sz="880" u="none" cap="none" strike="noStrike">
              <a:solidFill>
                <a:schemeClr val="dk1"/>
              </a:solidFill>
              <a:latin typeface="Calibri"/>
              <a:ea typeface="Calibri"/>
              <a:cs typeface="Calibri"/>
              <a:sym typeface="Calibri"/>
            </a:endParaRPr>
          </a:p>
        </p:txBody>
      </p:sp>
      <p:sp>
        <p:nvSpPr>
          <p:cNvPr id="174" name="Google Shape;174;p6"/>
          <p:cNvSpPr/>
          <p:nvPr/>
        </p:nvSpPr>
        <p:spPr>
          <a:xfrm>
            <a:off x="5272088" y="1073767"/>
            <a:ext cx="3443288" cy="2300288"/>
          </a:xfrm>
          <a:prstGeom prst="rect">
            <a:avLst/>
          </a:prstGeom>
          <a:solidFill>
            <a:srgbClr val="00FFCC">
              <a:alpha val="5098"/>
            </a:srgbClr>
          </a:solidFill>
          <a:ln cap="flat" cmpd="sng" w="9525">
            <a:solidFill>
              <a:srgbClr val="00F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5" name="Google Shape;175;p6"/>
          <p:cNvPicPr preferRelativeResize="0"/>
          <p:nvPr/>
        </p:nvPicPr>
        <p:blipFill rotWithShape="1">
          <a:blip r:embed="rId4">
            <a:alphaModFix amt="80000"/>
          </a:blip>
          <a:srcRect b="0" l="0" r="0" t="0"/>
          <a:stretch/>
        </p:blipFill>
        <p:spPr>
          <a:xfrm>
            <a:off x="5286375" y="1073767"/>
            <a:ext cx="3429000" cy="2286000"/>
          </a:xfrm>
          <a:prstGeom prst="rect">
            <a:avLst/>
          </a:prstGeom>
          <a:noFill/>
          <a:ln>
            <a:noFill/>
          </a:ln>
        </p:spPr>
      </p:pic>
      <p:sp>
        <p:nvSpPr>
          <p:cNvPr id="176" name="Google Shape;176;p6"/>
          <p:cNvSpPr/>
          <p:nvPr/>
        </p:nvSpPr>
        <p:spPr>
          <a:xfrm>
            <a:off x="5286375" y="3466923"/>
            <a:ext cx="3429000" cy="271463"/>
          </a:xfrm>
          <a:prstGeom prst="rect">
            <a:avLst/>
          </a:prstGeom>
          <a:noFill/>
          <a:ln>
            <a:noFill/>
          </a:ln>
        </p:spPr>
        <p:txBody>
          <a:bodyPr anchorCtr="0" anchor="t" bIns="0" lIns="85075"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Analysis of current displacement and reception hub patterns</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descr="preencoded.png" id="182" name="Google Shape;182;p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3" name="Google Shape;183;p7"/>
          <p:cNvSpPr/>
          <p:nvPr/>
        </p:nvSpPr>
        <p:spPr>
          <a:xfrm>
            <a:off x="0" y="0"/>
            <a:ext cx="9001125" cy="902317"/>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7"/>
          <p:cNvSpPr/>
          <p:nvPr/>
        </p:nvSpPr>
        <p:spPr>
          <a:xfrm>
            <a:off x="0" y="895173"/>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
          <p:cNvSpPr/>
          <p:nvPr/>
        </p:nvSpPr>
        <p:spPr>
          <a:xfrm>
            <a:off x="428625" y="475478"/>
            <a:ext cx="8572500" cy="312539"/>
          </a:xfrm>
          <a:prstGeom prst="rect">
            <a:avLst/>
          </a:prstGeom>
          <a:noFill/>
          <a:ln>
            <a:noFill/>
          </a:ln>
        </p:spPr>
        <p:txBody>
          <a:bodyPr anchorCtr="0" anchor="t" bIns="0" lIns="0" spcFirstLastPara="1" rIns="0" wrap="square" tIns="0">
            <a:spAutoFit/>
          </a:bodyPr>
          <a:lstStyle/>
          <a:p>
            <a:pPr indent="0" lvl="0" marL="0" rtl="0" algn="l">
              <a:lnSpc>
                <a:spcPct val="150000"/>
              </a:lnSpc>
              <a:spcBef>
                <a:spcPts val="600"/>
              </a:spcBef>
              <a:spcAft>
                <a:spcPts val="0"/>
              </a:spcAft>
              <a:buClr>
                <a:schemeClr val="dk1"/>
              </a:buClr>
              <a:buSzPts val="1100"/>
              <a:buFont typeface="Arial"/>
              <a:buNone/>
            </a:pPr>
            <a:r>
              <a:rPr b="1" lang="en-US" sz="1600">
                <a:solidFill>
                  <a:srgbClr val="00FFCC"/>
                </a:solidFill>
              </a:rPr>
              <a:t>UNSUPERVISED MACHINE LEARNING CATEGORIZES HOTSPOTS</a:t>
            </a:r>
            <a:endParaRPr b="1" sz="1600">
              <a:solidFill>
                <a:srgbClr val="00FFCC"/>
              </a:solidFill>
            </a:endParaRPr>
          </a:p>
          <a:p>
            <a:pPr indent="0" lvl="0" marL="0" rtl="0" algn="l">
              <a:lnSpc>
                <a:spcPct val="115000"/>
              </a:lnSpc>
              <a:spcBef>
                <a:spcPts val="600"/>
              </a:spcBef>
              <a:spcAft>
                <a:spcPts val="0"/>
              </a:spcAft>
              <a:buClr>
                <a:schemeClr val="dk1"/>
              </a:buClr>
              <a:buSzPts val="1100"/>
              <a:buFont typeface="Arial"/>
              <a:buNone/>
            </a:pPr>
            <a:r>
              <a:t/>
            </a:r>
            <a:endParaRPr sz="1100">
              <a:solidFill>
                <a:schemeClr val="dk1"/>
              </a:solidFill>
            </a:endParaRPr>
          </a:p>
          <a:p>
            <a:pPr indent="0" lvl="0" marL="0" marR="0" rtl="0" algn="l">
              <a:lnSpc>
                <a:spcPct val="137328"/>
              </a:lnSpc>
              <a:spcBef>
                <a:spcPts val="0"/>
              </a:spcBef>
              <a:spcAft>
                <a:spcPts val="0"/>
              </a:spcAft>
              <a:buClr>
                <a:srgbClr val="00FFCC"/>
              </a:buClr>
              <a:buSzPts val="1602"/>
              <a:buFont typeface="Calibri"/>
              <a:buNone/>
            </a:pPr>
            <a:r>
              <a:t/>
            </a:r>
            <a:endParaRPr b="1" sz="1602">
              <a:solidFill>
                <a:srgbClr val="00FFCC"/>
              </a:solidFill>
              <a:latin typeface="Calibri"/>
              <a:ea typeface="Calibri"/>
              <a:cs typeface="Calibri"/>
              <a:sym typeface="Calibri"/>
            </a:endParaRPr>
          </a:p>
        </p:txBody>
      </p:sp>
      <p:sp>
        <p:nvSpPr>
          <p:cNvPr id="186" name="Google Shape;186;p7"/>
          <p:cNvSpPr/>
          <p:nvPr/>
        </p:nvSpPr>
        <p:spPr>
          <a:xfrm>
            <a:off x="428625" y="1252361"/>
            <a:ext cx="7858125" cy="685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600"/>
              </a:spcBef>
              <a:spcAft>
                <a:spcPts val="0"/>
              </a:spcAft>
              <a:buClr>
                <a:schemeClr val="dk1"/>
              </a:buClr>
              <a:buSzPts val="1100"/>
              <a:buFont typeface="Arial"/>
              <a:buNone/>
            </a:pPr>
            <a:r>
              <a:rPr b="1" lang="en-US" sz="1000">
                <a:solidFill>
                  <a:srgbClr val="D5CED9"/>
                </a:solidFill>
              </a:rPr>
              <a:t>Unsupervised learning, specifically K-Means Clustering, was applied to all hex zones to group areas with similar reconstruction conditions into functional cluster profiles.</a:t>
            </a:r>
            <a:br>
              <a:rPr b="1" lang="en-US" sz="1000">
                <a:solidFill>
                  <a:srgbClr val="D5CED9"/>
                </a:solidFill>
              </a:rPr>
            </a:br>
            <a:r>
              <a:rPr b="1" lang="en-US" sz="1000">
                <a:solidFill>
                  <a:srgbClr val="D5CED9"/>
                </a:solidFill>
              </a:rPr>
              <a:t>This provides a clearer, data-driven view of where and how recovery efforts should be prioritized.</a:t>
            </a:r>
            <a:endParaRPr b="1" sz="1000">
              <a:solidFill>
                <a:srgbClr val="D5CED9"/>
              </a:solidFill>
            </a:endParaRPr>
          </a:p>
          <a:p>
            <a:pPr indent="0" lvl="0" marL="0" rtl="0" algn="l">
              <a:lnSpc>
                <a:spcPct val="115000"/>
              </a:lnSpc>
              <a:spcBef>
                <a:spcPts val="600"/>
              </a:spcBef>
              <a:spcAft>
                <a:spcPts val="0"/>
              </a:spcAft>
              <a:buClr>
                <a:schemeClr val="dk1"/>
              </a:buClr>
              <a:buSzPts val="1100"/>
              <a:buFont typeface="Arial"/>
              <a:buNone/>
            </a:pPr>
            <a:r>
              <a:t/>
            </a:r>
            <a:endParaRPr b="1" sz="1100">
              <a:solidFill>
                <a:schemeClr val="dk1"/>
              </a:solidFill>
            </a:endParaRPr>
          </a:p>
          <a:p>
            <a:pPr indent="0" lvl="0" marL="0" marR="0" rtl="0" algn="l">
              <a:lnSpc>
                <a:spcPct val="171428"/>
              </a:lnSpc>
              <a:spcBef>
                <a:spcPts val="0"/>
              </a:spcBef>
              <a:spcAft>
                <a:spcPts val="0"/>
              </a:spcAft>
              <a:buClr>
                <a:srgbClr val="E0E0E0"/>
              </a:buClr>
              <a:buSzPts val="1050"/>
              <a:buFont typeface="Calibri"/>
              <a:buNone/>
            </a:pPr>
            <a:r>
              <a:t/>
            </a:r>
            <a:endParaRPr b="1" sz="1050">
              <a:solidFill>
                <a:srgbClr val="E0E0E0"/>
              </a:solidFill>
              <a:latin typeface="Calibri"/>
              <a:ea typeface="Calibri"/>
              <a:cs typeface="Calibri"/>
              <a:sym typeface="Calibri"/>
            </a:endParaRPr>
          </a:p>
        </p:txBody>
      </p:sp>
      <p:sp>
        <p:nvSpPr>
          <p:cNvPr id="187" name="Google Shape;187;p7"/>
          <p:cNvSpPr/>
          <p:nvPr/>
        </p:nvSpPr>
        <p:spPr>
          <a:xfrm>
            <a:off x="428625" y="2152473"/>
            <a:ext cx="8286750" cy="1350169"/>
          </a:xfrm>
          <a:prstGeom prst="rect">
            <a:avLst/>
          </a:prstGeom>
          <a:solidFill>
            <a:srgbClr val="FFFFFF">
              <a:alpha val="1960"/>
            </a:srgbClr>
          </a:solidFill>
          <a:ln cap="flat" cmpd="sng" w="9525">
            <a:solidFill>
              <a:srgbClr val="00FFCC">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428625" y="2152473"/>
            <a:ext cx="2420280" cy="332184"/>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428625" y="2470370"/>
            <a:ext cx="2420280"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428625" y="2152473"/>
            <a:ext cx="2420280"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b="1" lang="en-US" sz="1000">
                <a:solidFill>
                  <a:srgbClr val="00FFCC"/>
                </a:solidFill>
              </a:rPr>
              <a:t>CLUSTER PROFILE</a:t>
            </a:r>
            <a:endParaRPr b="1" sz="1000">
              <a:solidFill>
                <a:srgbClr val="00FFCC"/>
              </a:solidFill>
            </a:endParaRPr>
          </a:p>
          <a:p>
            <a:pPr indent="0" lvl="0" marL="0" marR="0" rtl="0" algn="l">
              <a:lnSpc>
                <a:spcPct val="135593"/>
              </a:lnSpc>
              <a:spcBef>
                <a:spcPts val="0"/>
              </a:spcBef>
              <a:spcAft>
                <a:spcPts val="0"/>
              </a:spcAft>
              <a:buClr>
                <a:srgbClr val="00FFCC"/>
              </a:buClr>
              <a:buSzPts val="885"/>
              <a:buFont typeface="Calibri"/>
              <a:buNone/>
            </a:pPr>
            <a:r>
              <a:t/>
            </a:r>
            <a:endParaRPr b="1" sz="885">
              <a:solidFill>
                <a:srgbClr val="00FFCC"/>
              </a:solidFill>
              <a:latin typeface="Calibri"/>
              <a:ea typeface="Calibri"/>
              <a:cs typeface="Calibri"/>
              <a:sym typeface="Calibri"/>
            </a:endParaRPr>
          </a:p>
        </p:txBody>
      </p:sp>
      <p:sp>
        <p:nvSpPr>
          <p:cNvPr id="191" name="Google Shape;191;p7"/>
          <p:cNvSpPr/>
          <p:nvPr/>
        </p:nvSpPr>
        <p:spPr>
          <a:xfrm>
            <a:off x="2848905" y="2152473"/>
            <a:ext cx="1791602" cy="332184"/>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2848905" y="2470370"/>
            <a:ext cx="1791602"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2848905" y="2152473"/>
            <a:ext cx="1791602"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b="1" lang="en-US" sz="1000">
                <a:solidFill>
                  <a:srgbClr val="00FFCC"/>
                </a:solidFill>
              </a:rPr>
              <a:t>PRIMARY FOCUS</a:t>
            </a:r>
            <a:endParaRPr b="1" sz="1000">
              <a:solidFill>
                <a:srgbClr val="00FFCC"/>
              </a:solidFill>
            </a:endParaRPr>
          </a:p>
          <a:p>
            <a:pPr indent="0" lvl="0" marL="0" marR="0" rtl="0" algn="l">
              <a:lnSpc>
                <a:spcPct val="135593"/>
              </a:lnSpc>
              <a:spcBef>
                <a:spcPts val="0"/>
              </a:spcBef>
              <a:spcAft>
                <a:spcPts val="0"/>
              </a:spcAft>
              <a:buClr>
                <a:srgbClr val="00FFCC"/>
              </a:buClr>
              <a:buSzPts val="885"/>
              <a:buFont typeface="Calibri"/>
              <a:buNone/>
            </a:pPr>
            <a:r>
              <a:t/>
            </a:r>
            <a:endParaRPr b="1" sz="885">
              <a:solidFill>
                <a:srgbClr val="00FFCC"/>
              </a:solidFill>
              <a:latin typeface="Calibri"/>
              <a:ea typeface="Calibri"/>
              <a:cs typeface="Calibri"/>
              <a:sym typeface="Calibri"/>
            </a:endParaRPr>
          </a:p>
        </p:txBody>
      </p:sp>
      <p:sp>
        <p:nvSpPr>
          <p:cNvPr id="194" name="Google Shape;194;p7"/>
          <p:cNvSpPr/>
          <p:nvPr/>
        </p:nvSpPr>
        <p:spPr>
          <a:xfrm>
            <a:off x="4640507" y="2152473"/>
            <a:ext cx="4074868" cy="332184"/>
          </a:xfrm>
          <a:prstGeom prst="rect">
            <a:avLst/>
          </a:prstGeom>
          <a:solidFill>
            <a:srgbClr val="00FFCC">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4640507" y="2470370"/>
            <a:ext cx="4074868" cy="14288"/>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4640507" y="2152473"/>
            <a:ext cx="4074868"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b="1" lang="en-US" sz="1000">
                <a:solidFill>
                  <a:srgbClr val="00FFCC"/>
                </a:solidFill>
              </a:rPr>
              <a:t>STRATEGIC OBJECTIVE</a:t>
            </a:r>
            <a:endParaRPr b="1" sz="1000">
              <a:solidFill>
                <a:srgbClr val="00FFCC"/>
              </a:solidFill>
            </a:endParaRPr>
          </a:p>
          <a:p>
            <a:pPr indent="0" lvl="0" marL="0" marR="0" rtl="0" algn="l">
              <a:lnSpc>
                <a:spcPct val="135593"/>
              </a:lnSpc>
              <a:spcBef>
                <a:spcPts val="0"/>
              </a:spcBef>
              <a:spcAft>
                <a:spcPts val="0"/>
              </a:spcAft>
              <a:buClr>
                <a:srgbClr val="00FFCC"/>
              </a:buClr>
              <a:buSzPts val="885"/>
              <a:buFont typeface="Calibri"/>
              <a:buNone/>
            </a:pPr>
            <a:r>
              <a:t/>
            </a:r>
            <a:endParaRPr b="1" sz="885">
              <a:solidFill>
                <a:srgbClr val="00FFCC"/>
              </a:solidFill>
              <a:latin typeface="Calibri"/>
              <a:ea typeface="Calibri"/>
              <a:cs typeface="Calibri"/>
              <a:sym typeface="Calibri"/>
            </a:endParaRPr>
          </a:p>
        </p:txBody>
      </p:sp>
      <p:sp>
        <p:nvSpPr>
          <p:cNvPr id="197" name="Google Shape;197;p7"/>
          <p:cNvSpPr/>
          <p:nvPr/>
        </p:nvSpPr>
        <p:spPr>
          <a:xfrm>
            <a:off x="428625" y="2477514"/>
            <a:ext cx="2420280" cy="328613"/>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lang="en-US" sz="1000">
                <a:solidFill>
                  <a:srgbClr val="00FFCC"/>
                </a:solidFill>
              </a:rPr>
              <a:t>Critical Infrastructure Hubs</a:t>
            </a:r>
            <a:endParaRPr sz="1000">
              <a:solidFill>
                <a:srgbClr val="00FFCC"/>
              </a:solidFill>
            </a:endParaRPr>
          </a:p>
          <a:p>
            <a:pPr indent="0" lvl="0" marL="0" marR="0" rtl="0" algn="l">
              <a:lnSpc>
                <a:spcPct val="135593"/>
              </a:lnSpc>
              <a:spcBef>
                <a:spcPts val="0"/>
              </a:spcBef>
              <a:spcAft>
                <a:spcPts val="0"/>
              </a:spcAft>
              <a:buClr>
                <a:srgbClr val="00FFCC"/>
              </a:buClr>
              <a:buSzPts val="885"/>
              <a:buFont typeface="Calibri"/>
              <a:buNone/>
            </a:pPr>
            <a:r>
              <a:t/>
            </a:r>
            <a:endParaRPr b="1" sz="885">
              <a:solidFill>
                <a:srgbClr val="00FFCC"/>
              </a:solidFill>
              <a:latin typeface="Calibri"/>
              <a:ea typeface="Calibri"/>
              <a:cs typeface="Calibri"/>
              <a:sym typeface="Calibri"/>
            </a:endParaRPr>
          </a:p>
        </p:txBody>
      </p:sp>
      <p:sp>
        <p:nvSpPr>
          <p:cNvPr id="198" name="Google Shape;198;p7"/>
          <p:cNvSpPr/>
          <p:nvPr/>
        </p:nvSpPr>
        <p:spPr>
          <a:xfrm>
            <a:off x="2848905" y="2477514"/>
            <a:ext cx="1791602" cy="328613"/>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lang="en-US" sz="1000">
                <a:solidFill>
                  <a:srgbClr val="D5CED9"/>
                </a:solidFill>
              </a:rPr>
              <a:t>Systemic Rebuilding</a:t>
            </a:r>
            <a:endParaRPr sz="1000">
              <a:solidFill>
                <a:srgbClr val="D5CED9"/>
              </a:solidFill>
            </a:endParaRPr>
          </a:p>
          <a:p>
            <a:pPr indent="0" lvl="0" marL="0" marR="0" rtl="0" algn="l">
              <a:lnSpc>
                <a:spcPct val="127388"/>
              </a:lnSpc>
              <a:spcBef>
                <a:spcPts val="0"/>
              </a:spcBef>
              <a:spcAft>
                <a:spcPts val="0"/>
              </a:spcAft>
              <a:buClr>
                <a:srgbClr val="E0E0E0"/>
              </a:buClr>
              <a:buSzPts val="942"/>
              <a:buFont typeface="Calibri"/>
              <a:buNone/>
            </a:pPr>
            <a:r>
              <a:t/>
            </a:r>
            <a:endParaRPr sz="942">
              <a:solidFill>
                <a:srgbClr val="E0E0E0"/>
              </a:solidFill>
              <a:latin typeface="Calibri"/>
              <a:ea typeface="Calibri"/>
              <a:cs typeface="Calibri"/>
              <a:sym typeface="Calibri"/>
            </a:endParaRPr>
          </a:p>
        </p:txBody>
      </p:sp>
      <p:sp>
        <p:nvSpPr>
          <p:cNvPr id="199" name="Google Shape;199;p7"/>
          <p:cNvSpPr/>
          <p:nvPr/>
        </p:nvSpPr>
        <p:spPr>
          <a:xfrm>
            <a:off x="4640500" y="2477525"/>
            <a:ext cx="4074900" cy="380100"/>
          </a:xfrm>
          <a:prstGeom prst="rect">
            <a:avLst/>
          </a:prstGeom>
          <a:noFill/>
          <a:ln>
            <a:noFill/>
          </a:ln>
        </p:spPr>
        <p:txBody>
          <a:bodyPr anchorCtr="0" anchor="ctr" bIns="8500" lIns="170050" spcFirstLastPara="1" rIns="170050" wrap="square" tIns="170050">
            <a:spAutoFit/>
          </a:bodyPr>
          <a:lstStyle/>
          <a:p>
            <a:pPr indent="0" lvl="0" marL="0" marR="0" rtl="0" algn="l">
              <a:lnSpc>
                <a:spcPct val="127388"/>
              </a:lnSpc>
              <a:spcBef>
                <a:spcPts val="0"/>
              </a:spcBef>
              <a:spcAft>
                <a:spcPts val="0"/>
              </a:spcAft>
              <a:buClr>
                <a:srgbClr val="E0E0E0"/>
              </a:buClr>
              <a:buSzPts val="942"/>
              <a:buFont typeface="Calibri"/>
              <a:buNone/>
            </a:pPr>
            <a:r>
              <a:rPr lang="en-US" sz="900">
                <a:solidFill>
                  <a:srgbClr val="D5CED9"/>
                </a:solidFill>
              </a:rPr>
              <a:t>Restore high-impact infrastructure nodes and connected lifelines first.</a:t>
            </a:r>
            <a:endParaRPr b="0" i="0" sz="900" u="none" cap="none" strike="noStrike">
              <a:solidFill>
                <a:schemeClr val="dk1"/>
              </a:solidFill>
              <a:latin typeface="Calibri"/>
              <a:ea typeface="Calibri"/>
              <a:cs typeface="Calibri"/>
              <a:sym typeface="Calibri"/>
            </a:endParaRPr>
          </a:p>
        </p:txBody>
      </p:sp>
      <p:sp>
        <p:nvSpPr>
          <p:cNvPr id="200" name="Google Shape;200;p7"/>
          <p:cNvSpPr/>
          <p:nvPr/>
        </p:nvSpPr>
        <p:spPr>
          <a:xfrm>
            <a:off x="428625" y="2806126"/>
            <a:ext cx="2420280"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lang="en-US" sz="1000">
                <a:solidFill>
                  <a:srgbClr val="00FFCC"/>
                </a:solidFill>
              </a:rPr>
              <a:t>High Density / High Damage</a:t>
            </a:r>
            <a:endParaRPr sz="1000">
              <a:solidFill>
                <a:srgbClr val="00FFCC"/>
              </a:solidFill>
            </a:endParaRPr>
          </a:p>
          <a:p>
            <a:pPr indent="0" lvl="0" marL="0" marR="0" rtl="0" algn="l">
              <a:lnSpc>
                <a:spcPct val="135593"/>
              </a:lnSpc>
              <a:spcBef>
                <a:spcPts val="0"/>
              </a:spcBef>
              <a:spcAft>
                <a:spcPts val="0"/>
              </a:spcAft>
              <a:buClr>
                <a:srgbClr val="00FFCC"/>
              </a:buClr>
              <a:buSzPts val="885"/>
              <a:buFont typeface="Calibri"/>
              <a:buNone/>
            </a:pPr>
            <a:r>
              <a:t/>
            </a:r>
            <a:endParaRPr b="1" sz="885">
              <a:solidFill>
                <a:srgbClr val="00FFCC"/>
              </a:solidFill>
              <a:latin typeface="Calibri"/>
              <a:ea typeface="Calibri"/>
              <a:cs typeface="Calibri"/>
              <a:sym typeface="Calibri"/>
            </a:endParaRPr>
          </a:p>
        </p:txBody>
      </p:sp>
      <p:sp>
        <p:nvSpPr>
          <p:cNvPr id="201" name="Google Shape;201;p7"/>
          <p:cNvSpPr/>
          <p:nvPr/>
        </p:nvSpPr>
        <p:spPr>
          <a:xfrm>
            <a:off x="2848905" y="2806126"/>
            <a:ext cx="1791602"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lang="en-US" sz="900">
                <a:solidFill>
                  <a:srgbClr val="D5CED9"/>
                </a:solidFill>
              </a:rPr>
              <a:t>Urban Emergency Recovery</a:t>
            </a:r>
            <a:endParaRPr sz="900">
              <a:solidFill>
                <a:srgbClr val="D5CED9"/>
              </a:solidFill>
            </a:endParaRPr>
          </a:p>
          <a:p>
            <a:pPr indent="0" lvl="0" marL="0" marR="0" rtl="0" algn="l">
              <a:lnSpc>
                <a:spcPct val="127388"/>
              </a:lnSpc>
              <a:spcBef>
                <a:spcPts val="0"/>
              </a:spcBef>
              <a:spcAft>
                <a:spcPts val="0"/>
              </a:spcAft>
              <a:buClr>
                <a:srgbClr val="E0E0E0"/>
              </a:buClr>
              <a:buSzPts val="942"/>
              <a:buFont typeface="Calibri"/>
              <a:buNone/>
            </a:pPr>
            <a:r>
              <a:t/>
            </a:r>
            <a:endParaRPr sz="842">
              <a:solidFill>
                <a:srgbClr val="E0E0E0"/>
              </a:solidFill>
              <a:latin typeface="Calibri"/>
              <a:ea typeface="Calibri"/>
              <a:cs typeface="Calibri"/>
              <a:sym typeface="Calibri"/>
            </a:endParaRPr>
          </a:p>
        </p:txBody>
      </p:sp>
      <p:sp>
        <p:nvSpPr>
          <p:cNvPr id="202" name="Google Shape;202;p7"/>
          <p:cNvSpPr/>
          <p:nvPr/>
        </p:nvSpPr>
        <p:spPr>
          <a:xfrm>
            <a:off x="4640507" y="2806126"/>
            <a:ext cx="4074868"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lang="en-US" sz="800">
                <a:solidFill>
                  <a:srgbClr val="D5CED9"/>
                </a:solidFill>
              </a:rPr>
              <a:t>Prioritize severely damaged, highly populated zones for immediate intervention.</a:t>
            </a:r>
            <a:endParaRPr sz="800">
              <a:solidFill>
                <a:srgbClr val="D5CED9"/>
              </a:solidFill>
            </a:endParaRPr>
          </a:p>
          <a:p>
            <a:pPr indent="0" lvl="0" marL="0" marR="0" rtl="0" algn="l">
              <a:lnSpc>
                <a:spcPct val="127388"/>
              </a:lnSpc>
              <a:spcBef>
                <a:spcPts val="0"/>
              </a:spcBef>
              <a:spcAft>
                <a:spcPts val="0"/>
              </a:spcAft>
              <a:buClr>
                <a:srgbClr val="E0E0E0"/>
              </a:buClr>
              <a:buSzPts val="942"/>
              <a:buFont typeface="Calibri"/>
              <a:buNone/>
            </a:pPr>
            <a:r>
              <a:t/>
            </a:r>
            <a:endParaRPr sz="100">
              <a:solidFill>
                <a:srgbClr val="E0E0E0"/>
              </a:solidFill>
              <a:latin typeface="Calibri"/>
              <a:ea typeface="Calibri"/>
              <a:cs typeface="Calibri"/>
              <a:sym typeface="Calibri"/>
            </a:endParaRPr>
          </a:p>
        </p:txBody>
      </p:sp>
      <p:sp>
        <p:nvSpPr>
          <p:cNvPr id="203" name="Google Shape;203;p7"/>
          <p:cNvSpPr/>
          <p:nvPr/>
        </p:nvSpPr>
        <p:spPr>
          <a:xfrm>
            <a:off x="428625" y="3138311"/>
            <a:ext cx="2420280"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lang="en-US" sz="1000">
                <a:solidFill>
                  <a:srgbClr val="00FFCC"/>
                </a:solidFill>
              </a:rPr>
              <a:t>Service Hubs Under Pressure</a:t>
            </a:r>
            <a:endParaRPr sz="1000">
              <a:solidFill>
                <a:srgbClr val="00FFCC"/>
              </a:solidFill>
            </a:endParaRPr>
          </a:p>
          <a:p>
            <a:pPr indent="0" lvl="0" marL="0" marR="0" rtl="0" algn="l">
              <a:lnSpc>
                <a:spcPct val="135593"/>
              </a:lnSpc>
              <a:spcBef>
                <a:spcPts val="0"/>
              </a:spcBef>
              <a:spcAft>
                <a:spcPts val="0"/>
              </a:spcAft>
              <a:buClr>
                <a:srgbClr val="00FFCC"/>
              </a:buClr>
              <a:buSzPts val="885"/>
              <a:buFont typeface="Calibri"/>
              <a:buNone/>
            </a:pPr>
            <a:r>
              <a:t/>
            </a:r>
            <a:endParaRPr b="1" sz="885">
              <a:solidFill>
                <a:srgbClr val="00FFCC"/>
              </a:solidFill>
              <a:latin typeface="Calibri"/>
              <a:ea typeface="Calibri"/>
              <a:cs typeface="Calibri"/>
              <a:sym typeface="Calibri"/>
            </a:endParaRPr>
          </a:p>
        </p:txBody>
      </p:sp>
      <p:sp>
        <p:nvSpPr>
          <p:cNvPr id="204" name="Google Shape;204;p7"/>
          <p:cNvSpPr/>
          <p:nvPr/>
        </p:nvSpPr>
        <p:spPr>
          <a:xfrm>
            <a:off x="2848905" y="3138311"/>
            <a:ext cx="1791602"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lang="en-US" sz="800">
                <a:solidFill>
                  <a:srgbClr val="D5CED9"/>
                </a:solidFill>
              </a:rPr>
              <a:t>Essential Services Continuity</a:t>
            </a:r>
            <a:endParaRPr sz="800">
              <a:solidFill>
                <a:srgbClr val="D5CED9"/>
              </a:solidFill>
            </a:endParaRPr>
          </a:p>
          <a:p>
            <a:pPr indent="0" lvl="0" marL="0" marR="0" rtl="0" algn="l">
              <a:lnSpc>
                <a:spcPct val="127388"/>
              </a:lnSpc>
              <a:spcBef>
                <a:spcPts val="0"/>
              </a:spcBef>
              <a:spcAft>
                <a:spcPts val="0"/>
              </a:spcAft>
              <a:buClr>
                <a:srgbClr val="E0E0E0"/>
              </a:buClr>
              <a:buSzPts val="942"/>
              <a:buFont typeface="Calibri"/>
              <a:buNone/>
            </a:pPr>
            <a:r>
              <a:t/>
            </a:r>
            <a:endParaRPr sz="742">
              <a:solidFill>
                <a:srgbClr val="E0E0E0"/>
              </a:solidFill>
              <a:latin typeface="Calibri"/>
              <a:ea typeface="Calibri"/>
              <a:cs typeface="Calibri"/>
              <a:sym typeface="Calibri"/>
            </a:endParaRPr>
          </a:p>
        </p:txBody>
      </p:sp>
      <p:sp>
        <p:nvSpPr>
          <p:cNvPr id="205" name="Google Shape;205;p7"/>
          <p:cNvSpPr/>
          <p:nvPr/>
        </p:nvSpPr>
        <p:spPr>
          <a:xfrm>
            <a:off x="4640507" y="3138311"/>
            <a:ext cx="4074868" cy="332184"/>
          </a:xfrm>
          <a:prstGeom prst="rect">
            <a:avLst/>
          </a:prstGeom>
          <a:noFill/>
          <a:ln>
            <a:noFill/>
          </a:ln>
        </p:spPr>
        <p:txBody>
          <a:bodyPr anchorCtr="0" anchor="ctr" bIns="8500" lIns="170050" spcFirstLastPara="1" rIns="170050" wrap="square" tIns="170050">
            <a:spAutoFit/>
          </a:bodyPr>
          <a:lstStyle/>
          <a:p>
            <a:pPr indent="0" lvl="0" marL="0" rtl="0" algn="l">
              <a:lnSpc>
                <a:spcPct val="150000"/>
              </a:lnSpc>
              <a:spcBef>
                <a:spcPts val="0"/>
              </a:spcBef>
              <a:spcAft>
                <a:spcPts val="0"/>
              </a:spcAft>
              <a:buNone/>
            </a:pPr>
            <a:r>
              <a:rPr lang="en-US" sz="900">
                <a:solidFill>
                  <a:srgbClr val="D5CED9"/>
                </a:solidFill>
              </a:rPr>
              <a:t>Stabilize healthcare, water, and utility access in stressed areas.</a:t>
            </a:r>
            <a:endParaRPr sz="900">
              <a:solidFill>
                <a:srgbClr val="D5CED9"/>
              </a:solidFill>
            </a:endParaRPr>
          </a:p>
          <a:p>
            <a:pPr indent="0" lvl="0" marL="0" rtl="0" algn="l">
              <a:lnSpc>
                <a:spcPct val="150000"/>
              </a:lnSpc>
              <a:spcBef>
                <a:spcPts val="0"/>
              </a:spcBef>
              <a:spcAft>
                <a:spcPts val="0"/>
              </a:spcAft>
              <a:buNone/>
            </a:pPr>
            <a:r>
              <a:t/>
            </a:r>
            <a:endParaRPr sz="700">
              <a:solidFill>
                <a:srgbClr val="D5CED9"/>
              </a:solidFill>
            </a:endParaRPr>
          </a:p>
          <a:p>
            <a:pPr indent="0" lvl="0" marL="0" marR="0" rtl="0" algn="l">
              <a:lnSpc>
                <a:spcPct val="127388"/>
              </a:lnSpc>
              <a:spcBef>
                <a:spcPts val="0"/>
              </a:spcBef>
              <a:spcAft>
                <a:spcPts val="0"/>
              </a:spcAft>
              <a:buClr>
                <a:srgbClr val="E0E0E0"/>
              </a:buClr>
              <a:buSzPts val="942"/>
              <a:buFont typeface="Calibri"/>
              <a:buNone/>
            </a:pPr>
            <a:r>
              <a:t/>
            </a:r>
            <a:endParaRPr sz="642">
              <a:solidFill>
                <a:srgbClr val="E0E0E0"/>
              </a:solidFill>
              <a:latin typeface="Calibri"/>
              <a:ea typeface="Calibri"/>
              <a:cs typeface="Calibri"/>
              <a:sym typeface="Calibri"/>
            </a:endParaRPr>
          </a:p>
        </p:txBody>
      </p:sp>
      <p:pic>
        <p:nvPicPr>
          <p:cNvPr descr="preencoded.png" id="206" name="Google Shape;206;p7"/>
          <p:cNvPicPr preferRelativeResize="0"/>
          <p:nvPr/>
        </p:nvPicPr>
        <p:blipFill rotWithShape="1">
          <a:blip r:embed="rId4">
            <a:alphaModFix/>
          </a:blip>
          <a:srcRect b="0" l="0" r="0" t="0"/>
          <a:stretch/>
        </p:blipFill>
        <p:spPr>
          <a:xfrm>
            <a:off x="428625" y="3706239"/>
            <a:ext cx="107156" cy="100013"/>
          </a:xfrm>
          <a:prstGeom prst="rect">
            <a:avLst/>
          </a:prstGeom>
          <a:noFill/>
          <a:ln>
            <a:noFill/>
          </a:ln>
        </p:spPr>
      </p:pic>
      <p:sp>
        <p:nvSpPr>
          <p:cNvPr id="207" name="Google Shape;207;p7"/>
          <p:cNvSpPr/>
          <p:nvPr/>
        </p:nvSpPr>
        <p:spPr>
          <a:xfrm>
            <a:off x="607219" y="3688380"/>
            <a:ext cx="6710242"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Algorithm: K-Means Clustering | Feature Set: Damage Intensity, Population Density, Infrastructure Proximity</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preencoded.png" id="213" name="Google Shape;213;p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14" name="Google Shape;214;p8"/>
          <p:cNvSpPr/>
          <p:nvPr/>
        </p:nvSpPr>
        <p:spPr>
          <a:xfrm>
            <a:off x="0" y="0"/>
            <a:ext cx="9001125" cy="902317"/>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0" y="895173"/>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428625" y="475478"/>
            <a:ext cx="8572500"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Phased Implementation Strategy Ensures Recovery Success</a:t>
            </a:r>
            <a:endParaRPr b="0" i="0" sz="1602" u="none" cap="none" strike="noStrike">
              <a:solidFill>
                <a:schemeClr val="dk1"/>
              </a:solidFill>
              <a:latin typeface="Calibri"/>
              <a:ea typeface="Calibri"/>
              <a:cs typeface="Calibri"/>
              <a:sym typeface="Calibri"/>
            </a:endParaRPr>
          </a:p>
        </p:txBody>
      </p:sp>
      <p:sp>
        <p:nvSpPr>
          <p:cNvPr id="217" name="Google Shape;217;p8"/>
          <p:cNvSpPr/>
          <p:nvPr/>
        </p:nvSpPr>
        <p:spPr>
          <a:xfrm>
            <a:off x="428625" y="1109486"/>
            <a:ext cx="4557713" cy="730783"/>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571500" y="1216642"/>
            <a:ext cx="2015096"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Phase 1: Immediate Recovery</a:t>
            </a:r>
            <a:endParaRPr b="0" i="0" sz="885" u="none" cap="none" strike="noStrike">
              <a:solidFill>
                <a:schemeClr val="dk1"/>
              </a:solidFill>
              <a:latin typeface="Calibri"/>
              <a:ea typeface="Calibri"/>
              <a:cs typeface="Calibri"/>
              <a:sym typeface="Calibri"/>
            </a:endParaRPr>
          </a:p>
        </p:txBody>
      </p:sp>
      <p:sp>
        <p:nvSpPr>
          <p:cNvPr id="219" name="Google Shape;219;p8"/>
          <p:cNvSpPr/>
          <p:nvPr/>
        </p:nvSpPr>
        <p:spPr>
          <a:xfrm>
            <a:off x="4254773" y="1236287"/>
            <a:ext cx="588690"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Months 0-12</a:t>
            </a:r>
            <a:endParaRPr b="0" i="0" sz="727" u="none" cap="none" strike="noStrike">
              <a:solidFill>
                <a:schemeClr val="dk1"/>
              </a:solidFill>
              <a:latin typeface="Calibri"/>
              <a:ea typeface="Calibri"/>
              <a:cs typeface="Calibri"/>
              <a:sym typeface="Calibri"/>
            </a:endParaRPr>
          </a:p>
        </p:txBody>
      </p:sp>
      <p:sp>
        <p:nvSpPr>
          <p:cNvPr id="220" name="Google Shape;220;p8"/>
          <p:cNvSpPr/>
          <p:nvPr/>
        </p:nvSpPr>
        <p:spPr>
          <a:xfrm>
            <a:off x="571500" y="1505964"/>
            <a:ext cx="4271963" cy="320018"/>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934" u="none" cap="none" strike="noStrike">
                <a:solidFill>
                  <a:srgbClr val="E0E0E0"/>
                </a:solidFill>
                <a:latin typeface="Calibri"/>
                <a:ea typeface="Calibri"/>
                <a:cs typeface="Calibri"/>
                <a:sym typeface="Calibri"/>
              </a:rPr>
              <a:t>Focuses on hospitals, arterial roads, and essential water/utility infrastructure to stabilize the humanitarian situation.</a:t>
            </a:r>
            <a:endParaRPr b="0" i="0" sz="934" u="none" cap="none" strike="noStrike">
              <a:solidFill>
                <a:schemeClr val="dk1"/>
              </a:solidFill>
              <a:latin typeface="Calibri"/>
              <a:ea typeface="Calibri"/>
              <a:cs typeface="Calibri"/>
              <a:sym typeface="Calibri"/>
            </a:endParaRPr>
          </a:p>
        </p:txBody>
      </p:sp>
      <p:sp>
        <p:nvSpPr>
          <p:cNvPr id="221" name="Google Shape;221;p8"/>
          <p:cNvSpPr/>
          <p:nvPr/>
        </p:nvSpPr>
        <p:spPr>
          <a:xfrm>
            <a:off x="428625" y="1933138"/>
            <a:ext cx="4557713" cy="730783"/>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571500" y="2040294"/>
            <a:ext cx="2405490"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Phase 2: Short-Term Stabilization</a:t>
            </a:r>
            <a:endParaRPr b="0" i="0" sz="885" u="none" cap="none" strike="noStrike">
              <a:solidFill>
                <a:schemeClr val="dk1"/>
              </a:solidFill>
              <a:latin typeface="Calibri"/>
              <a:ea typeface="Calibri"/>
              <a:cs typeface="Calibri"/>
              <a:sym typeface="Calibri"/>
            </a:endParaRPr>
          </a:p>
        </p:txBody>
      </p:sp>
      <p:sp>
        <p:nvSpPr>
          <p:cNvPr id="223" name="Google Shape;223;p8"/>
          <p:cNvSpPr/>
          <p:nvPr/>
        </p:nvSpPr>
        <p:spPr>
          <a:xfrm>
            <a:off x="4197567" y="2059939"/>
            <a:ext cx="645895"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Months 13-36</a:t>
            </a:r>
            <a:endParaRPr b="0" i="0" sz="727" u="none" cap="none" strike="noStrike">
              <a:solidFill>
                <a:schemeClr val="dk1"/>
              </a:solidFill>
              <a:latin typeface="Calibri"/>
              <a:ea typeface="Calibri"/>
              <a:cs typeface="Calibri"/>
              <a:sym typeface="Calibri"/>
            </a:endParaRPr>
          </a:p>
        </p:txBody>
      </p:sp>
      <p:sp>
        <p:nvSpPr>
          <p:cNvPr id="224" name="Google Shape;224;p8"/>
          <p:cNvSpPr/>
          <p:nvPr/>
        </p:nvSpPr>
        <p:spPr>
          <a:xfrm>
            <a:off x="571500" y="2329616"/>
            <a:ext cx="4271963" cy="320018"/>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934" u="none" cap="none" strike="noStrike">
                <a:solidFill>
                  <a:srgbClr val="E0E0E0"/>
                </a:solidFill>
                <a:latin typeface="Calibri"/>
                <a:ea typeface="Calibri"/>
                <a:cs typeface="Calibri"/>
                <a:sym typeface="Calibri"/>
              </a:rPr>
              <a:t>Targets high-density residential areas and primary educational centers to support returning populations.</a:t>
            </a:r>
            <a:endParaRPr b="0" i="0" sz="934" u="none" cap="none" strike="noStrike">
              <a:solidFill>
                <a:schemeClr val="dk1"/>
              </a:solidFill>
              <a:latin typeface="Calibri"/>
              <a:ea typeface="Calibri"/>
              <a:cs typeface="Calibri"/>
              <a:sym typeface="Calibri"/>
            </a:endParaRPr>
          </a:p>
        </p:txBody>
      </p:sp>
      <p:sp>
        <p:nvSpPr>
          <p:cNvPr id="225" name="Google Shape;225;p8"/>
          <p:cNvSpPr/>
          <p:nvPr/>
        </p:nvSpPr>
        <p:spPr>
          <a:xfrm>
            <a:off x="428625" y="2756790"/>
            <a:ext cx="4557713" cy="730783"/>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571500" y="2863946"/>
            <a:ext cx="2320128"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Phase 3: Medium-Term Expansion</a:t>
            </a:r>
            <a:endParaRPr b="0" i="0" sz="885" u="none" cap="none" strike="noStrike">
              <a:solidFill>
                <a:schemeClr val="dk1"/>
              </a:solidFill>
              <a:latin typeface="Calibri"/>
              <a:ea typeface="Calibri"/>
              <a:cs typeface="Calibri"/>
              <a:sym typeface="Calibri"/>
            </a:endParaRPr>
          </a:p>
        </p:txBody>
      </p:sp>
      <p:sp>
        <p:nvSpPr>
          <p:cNvPr id="227" name="Google Shape;227;p8"/>
          <p:cNvSpPr/>
          <p:nvPr/>
        </p:nvSpPr>
        <p:spPr>
          <a:xfrm>
            <a:off x="4197567" y="2883591"/>
            <a:ext cx="645895"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Months 37-60</a:t>
            </a:r>
            <a:endParaRPr b="0" i="0" sz="727" u="none" cap="none" strike="noStrike">
              <a:solidFill>
                <a:schemeClr val="dk1"/>
              </a:solidFill>
              <a:latin typeface="Calibri"/>
              <a:ea typeface="Calibri"/>
              <a:cs typeface="Calibri"/>
              <a:sym typeface="Calibri"/>
            </a:endParaRPr>
          </a:p>
        </p:txBody>
      </p:sp>
      <p:sp>
        <p:nvSpPr>
          <p:cNvPr id="228" name="Google Shape;228;p8"/>
          <p:cNvSpPr/>
          <p:nvPr/>
        </p:nvSpPr>
        <p:spPr>
          <a:xfrm>
            <a:off x="571500" y="3153268"/>
            <a:ext cx="4271963" cy="320018"/>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934" u="none" cap="none" strike="noStrike">
                <a:solidFill>
                  <a:srgbClr val="E0E0E0"/>
                </a:solidFill>
                <a:latin typeface="Calibri"/>
                <a:ea typeface="Calibri"/>
                <a:cs typeface="Calibri"/>
                <a:sym typeface="Calibri"/>
              </a:rPr>
              <a:t>Expands to secondary road networks and municipal service buildings to restore local governance and mobility.</a:t>
            </a:r>
            <a:endParaRPr b="0" i="0" sz="934" u="none" cap="none" strike="noStrike">
              <a:solidFill>
                <a:schemeClr val="dk1"/>
              </a:solidFill>
              <a:latin typeface="Calibri"/>
              <a:ea typeface="Calibri"/>
              <a:cs typeface="Calibri"/>
              <a:sym typeface="Calibri"/>
            </a:endParaRPr>
          </a:p>
        </p:txBody>
      </p:sp>
      <p:sp>
        <p:nvSpPr>
          <p:cNvPr id="229" name="Google Shape;229;p8"/>
          <p:cNvSpPr/>
          <p:nvPr/>
        </p:nvSpPr>
        <p:spPr>
          <a:xfrm>
            <a:off x="428625" y="3580442"/>
            <a:ext cx="4557713" cy="730783"/>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571500" y="3687598"/>
            <a:ext cx="2278075"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Phase 4: Long-Term Restoration</a:t>
            </a:r>
            <a:endParaRPr b="0" i="0" sz="885" u="none" cap="none" strike="noStrike">
              <a:solidFill>
                <a:schemeClr val="dk1"/>
              </a:solidFill>
              <a:latin typeface="Calibri"/>
              <a:ea typeface="Calibri"/>
              <a:cs typeface="Calibri"/>
              <a:sym typeface="Calibri"/>
            </a:endParaRPr>
          </a:p>
        </p:txBody>
      </p:sp>
      <p:sp>
        <p:nvSpPr>
          <p:cNvPr id="231" name="Google Shape;231;p8"/>
          <p:cNvSpPr/>
          <p:nvPr/>
        </p:nvSpPr>
        <p:spPr>
          <a:xfrm>
            <a:off x="4197567" y="3707243"/>
            <a:ext cx="645895"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Months 61-84</a:t>
            </a:r>
            <a:endParaRPr b="0" i="0" sz="727" u="none" cap="none" strike="noStrike">
              <a:solidFill>
                <a:schemeClr val="dk1"/>
              </a:solidFill>
              <a:latin typeface="Calibri"/>
              <a:ea typeface="Calibri"/>
              <a:cs typeface="Calibri"/>
              <a:sym typeface="Calibri"/>
            </a:endParaRPr>
          </a:p>
        </p:txBody>
      </p:sp>
      <p:sp>
        <p:nvSpPr>
          <p:cNvPr id="232" name="Google Shape;232;p8"/>
          <p:cNvSpPr/>
          <p:nvPr/>
        </p:nvSpPr>
        <p:spPr>
          <a:xfrm>
            <a:off x="571500" y="3976920"/>
            <a:ext cx="4271963" cy="320018"/>
          </a:xfrm>
          <a:prstGeom prst="rect">
            <a:avLst/>
          </a:prstGeom>
          <a:noFill/>
          <a:ln>
            <a:noFill/>
          </a:ln>
        </p:spPr>
        <p:txBody>
          <a:bodyPr anchorCtr="0" anchor="t" bIns="0" lIns="0" spcFirstLastPara="1" rIns="0" wrap="square" tIns="0">
            <a:spAutoFit/>
          </a:bodyPr>
          <a:lstStyle/>
          <a:p>
            <a:pPr indent="0" lvl="0" marL="0" marR="0" rtl="0" algn="l">
              <a:lnSpc>
                <a:spcPct val="155875"/>
              </a:lnSpc>
              <a:spcBef>
                <a:spcPts val="0"/>
              </a:spcBef>
              <a:spcAft>
                <a:spcPts val="0"/>
              </a:spcAft>
              <a:buClr>
                <a:srgbClr val="E0E0E0"/>
              </a:buClr>
              <a:buSzPts val="834"/>
              <a:buFont typeface="Calibri"/>
              <a:buNone/>
            </a:pPr>
            <a:r>
              <a:rPr b="0" i="0" lang="en-US" sz="934" u="none" cap="none" strike="noStrike">
                <a:solidFill>
                  <a:srgbClr val="E0E0E0"/>
                </a:solidFill>
                <a:latin typeface="Calibri"/>
                <a:ea typeface="Calibri"/>
                <a:cs typeface="Calibri"/>
                <a:sym typeface="Calibri"/>
              </a:rPr>
              <a:t>Completes the restoration of residential neighborhoods and long-term economic zones for sustainable growth.</a:t>
            </a:r>
            <a:endParaRPr b="0" i="0" sz="934" u="none" cap="none" strike="noStrike">
              <a:solidFill>
                <a:schemeClr val="dk1"/>
              </a:solidFill>
              <a:latin typeface="Calibri"/>
              <a:ea typeface="Calibri"/>
              <a:cs typeface="Calibri"/>
              <a:sym typeface="Calibri"/>
            </a:endParaRPr>
          </a:p>
        </p:txBody>
      </p:sp>
      <p:sp>
        <p:nvSpPr>
          <p:cNvPr id="233" name="Google Shape;233;p8"/>
          <p:cNvSpPr/>
          <p:nvPr/>
        </p:nvSpPr>
        <p:spPr>
          <a:xfrm>
            <a:off x="428625" y="4546969"/>
            <a:ext cx="4557713" cy="417909"/>
          </a:xfrm>
          <a:prstGeom prst="rect">
            <a:avLst/>
          </a:prstGeom>
          <a:noFill/>
          <a:ln>
            <a:noFill/>
          </a:ln>
        </p:spPr>
        <p:txBody>
          <a:bodyPr anchorCtr="0" anchor="t" bIns="0" lIns="170050" spcFirstLastPara="1" rIns="0" wrap="square" tIns="127500">
            <a:spAutoFit/>
          </a:bodyPr>
          <a:lstStyle/>
          <a:p>
            <a:pPr indent="0" lvl="0" marL="0" marR="0" rtl="0" algn="l">
              <a:lnSpc>
                <a:spcPct val="131894"/>
              </a:lnSpc>
              <a:spcBef>
                <a:spcPts val="0"/>
              </a:spcBef>
              <a:spcAft>
                <a:spcPts val="0"/>
              </a:spcAft>
              <a:buClr>
                <a:srgbClr val="A0A0A0"/>
              </a:buClr>
              <a:buSzPts val="834"/>
              <a:buFont typeface="Calibri"/>
              <a:buNone/>
            </a:pPr>
            <a:r>
              <a:rPr b="0" i="1" lang="en-US" sz="834" u="none" cap="none" strike="noStrike">
                <a:solidFill>
                  <a:srgbClr val="A0A0A0"/>
                </a:solidFill>
                <a:latin typeface="Calibri"/>
                <a:ea typeface="Calibri"/>
                <a:cs typeface="Calibri"/>
                <a:sym typeface="Calibri"/>
              </a:rPr>
              <a:t>Total Project Duration: 84 Months (7 Years) | Strategic Phasing based on Population Density and Infrastructure Criticality.</a:t>
            </a:r>
            <a:endParaRPr b="0" i="0" sz="834" u="none" cap="none" strike="noStrike">
              <a:solidFill>
                <a:schemeClr val="dk1"/>
              </a:solidFill>
              <a:latin typeface="Calibri"/>
              <a:ea typeface="Calibri"/>
              <a:cs typeface="Calibri"/>
              <a:sym typeface="Calibri"/>
            </a:endParaRPr>
          </a:p>
        </p:txBody>
      </p:sp>
      <p:sp>
        <p:nvSpPr>
          <p:cNvPr id="234" name="Google Shape;234;p8"/>
          <p:cNvSpPr/>
          <p:nvPr/>
        </p:nvSpPr>
        <p:spPr>
          <a:xfrm>
            <a:off x="5272088" y="1109486"/>
            <a:ext cx="3443288" cy="2586038"/>
          </a:xfrm>
          <a:prstGeom prst="rect">
            <a:avLst/>
          </a:prstGeom>
          <a:solidFill>
            <a:srgbClr val="00FFCC">
              <a:alpha val="5098"/>
            </a:srgbClr>
          </a:solidFill>
          <a:ln cap="flat" cmpd="sng" w="9525">
            <a:solidFill>
              <a:srgbClr val="00F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8"/>
          <p:cNvPicPr preferRelativeResize="0"/>
          <p:nvPr/>
        </p:nvPicPr>
        <p:blipFill rotWithShape="1">
          <a:blip r:embed="rId4">
            <a:alphaModFix amt="80000"/>
          </a:blip>
          <a:srcRect b="0" l="0" r="0" t="0"/>
          <a:stretch/>
        </p:blipFill>
        <p:spPr>
          <a:xfrm>
            <a:off x="5286375" y="1109486"/>
            <a:ext cx="3429000" cy="2571750"/>
          </a:xfrm>
          <a:prstGeom prst="rect">
            <a:avLst/>
          </a:prstGeom>
          <a:noFill/>
          <a:ln>
            <a:noFill/>
          </a:ln>
        </p:spPr>
      </p:pic>
      <p:sp>
        <p:nvSpPr>
          <p:cNvPr id="236" name="Google Shape;236;p8"/>
          <p:cNvSpPr/>
          <p:nvPr/>
        </p:nvSpPr>
        <p:spPr>
          <a:xfrm>
            <a:off x="5286375" y="3788392"/>
            <a:ext cx="3429000" cy="271463"/>
          </a:xfrm>
          <a:prstGeom prst="rect">
            <a:avLst/>
          </a:prstGeom>
          <a:noFill/>
          <a:ln>
            <a:noFill/>
          </a:ln>
        </p:spPr>
        <p:txBody>
          <a:bodyPr anchorCtr="0" anchor="t" bIns="0" lIns="85075"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Visual monitoring of phased reconstruction milestones</a:t>
            </a:r>
            <a:endParaRPr b="0" i="0" sz="727"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preencoded.png" id="242" name="Google Shape;242;p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43" name="Google Shape;243;p9"/>
          <p:cNvSpPr/>
          <p:nvPr/>
        </p:nvSpPr>
        <p:spPr>
          <a:xfrm>
            <a:off x="0" y="0"/>
            <a:ext cx="9001125" cy="1214856"/>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0" y="1207712"/>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428625" y="475478"/>
            <a:ext cx="8572500" cy="625078"/>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Comprehensive Digital Outputs Facilitate Stakeholder Coordination</a:t>
            </a:r>
            <a:endParaRPr b="0" i="0" sz="1602" u="none" cap="none" strike="noStrike">
              <a:solidFill>
                <a:schemeClr val="dk1"/>
              </a:solidFill>
              <a:latin typeface="Calibri"/>
              <a:ea typeface="Calibri"/>
              <a:cs typeface="Calibri"/>
              <a:sym typeface="Calibri"/>
            </a:endParaRPr>
          </a:p>
        </p:txBody>
      </p:sp>
      <p:sp>
        <p:nvSpPr>
          <p:cNvPr id="246" name="Google Shape;246;p9"/>
          <p:cNvSpPr/>
          <p:nvPr/>
        </p:nvSpPr>
        <p:spPr>
          <a:xfrm>
            <a:off x="0" y="1564900"/>
            <a:ext cx="8715375" cy="457200"/>
          </a:xfrm>
          <a:prstGeom prst="rect">
            <a:avLst/>
          </a:prstGeom>
          <a:noFill/>
          <a:ln>
            <a:noFill/>
          </a:ln>
        </p:spPr>
        <p:txBody>
          <a:bodyPr anchorCtr="0" anchor="t" bIns="0" lIns="510275" spcFirstLastPara="1" rIns="510275" wrap="square" tIns="0">
            <a:spAutoFit/>
          </a:bodyPr>
          <a:lstStyle/>
          <a:p>
            <a:pPr indent="0" lvl="0" marL="0" marR="0" rtl="0" algn="l">
              <a:lnSpc>
                <a:spcPct val="171428"/>
              </a:lnSpc>
              <a:spcBef>
                <a:spcPts val="0"/>
              </a:spcBef>
              <a:spcAft>
                <a:spcPts val="0"/>
              </a:spcAft>
              <a:buClr>
                <a:srgbClr val="E0E0E0"/>
              </a:buClr>
              <a:buSzPts val="1050"/>
              <a:buFont typeface="Calibri"/>
              <a:buNone/>
            </a:pPr>
            <a:r>
              <a:rPr b="0" i="0" lang="en-US" sz="1050" u="none" cap="none" strike="noStrike">
                <a:solidFill>
                  <a:srgbClr val="E0E0E0"/>
                </a:solidFill>
                <a:latin typeface="Calibri"/>
                <a:ea typeface="Calibri"/>
                <a:cs typeface="Calibri"/>
                <a:sym typeface="Calibri"/>
              </a:rPr>
              <a:t>To support diverse stakeholders, the GSR-DSS generates automated outputs that facilitate evidence-based decision-making across all levels of administration.</a:t>
            </a:r>
            <a:endParaRPr b="0" i="0" sz="1050" u="none" cap="none" strike="noStrike">
              <a:solidFill>
                <a:schemeClr val="dk1"/>
              </a:solidFill>
              <a:latin typeface="Calibri"/>
              <a:ea typeface="Calibri"/>
              <a:cs typeface="Calibri"/>
              <a:sym typeface="Calibri"/>
            </a:endParaRPr>
          </a:p>
        </p:txBody>
      </p:sp>
      <p:sp>
        <p:nvSpPr>
          <p:cNvPr id="247" name="Google Shape;247;p9"/>
          <p:cNvSpPr/>
          <p:nvPr/>
        </p:nvSpPr>
        <p:spPr>
          <a:xfrm>
            <a:off x="428625" y="2236412"/>
            <a:ext cx="2619356" cy="1764506"/>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
          <p:cNvSpPr/>
          <p:nvPr/>
        </p:nvSpPr>
        <p:spPr>
          <a:xfrm>
            <a:off x="428625" y="2236412"/>
            <a:ext cx="2605041" cy="14288"/>
          </a:xfrm>
          <a:prstGeom prst="rect">
            <a:avLst/>
          </a:prstGeom>
          <a:solidFill>
            <a:srgbClr val="00FFCC">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9" name="Google Shape;249;p9"/>
          <p:cNvPicPr preferRelativeResize="0"/>
          <p:nvPr/>
        </p:nvPicPr>
        <p:blipFill rotWithShape="1">
          <a:blip r:embed="rId4">
            <a:alphaModFix/>
          </a:blip>
          <a:srcRect b="0" l="0" r="0" t="0"/>
          <a:stretch/>
        </p:blipFill>
        <p:spPr>
          <a:xfrm>
            <a:off x="607219" y="2447153"/>
            <a:ext cx="192881" cy="171450"/>
          </a:xfrm>
          <a:prstGeom prst="rect">
            <a:avLst/>
          </a:prstGeom>
          <a:noFill/>
          <a:ln>
            <a:noFill/>
          </a:ln>
        </p:spPr>
      </p:pic>
      <p:sp>
        <p:nvSpPr>
          <p:cNvPr id="250" name="Google Shape;250;p9"/>
          <p:cNvSpPr/>
          <p:nvPr/>
        </p:nvSpPr>
        <p:spPr>
          <a:xfrm>
            <a:off x="607219" y="2756120"/>
            <a:ext cx="2262169"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00FFCC"/>
              </a:buClr>
              <a:buSzPts val="987"/>
              <a:buFont typeface="Calibri"/>
              <a:buNone/>
            </a:pPr>
            <a:r>
              <a:rPr b="1" i="0" lang="en-US" sz="987" u="none" cap="none" strike="noStrike">
                <a:solidFill>
                  <a:srgbClr val="00FFCC"/>
                </a:solidFill>
                <a:latin typeface="Calibri"/>
                <a:ea typeface="Calibri"/>
                <a:cs typeface="Calibri"/>
                <a:sym typeface="Calibri"/>
              </a:rPr>
              <a:t>Interactive Maps</a:t>
            </a:r>
            <a:endParaRPr b="0" i="0" sz="987" u="none" cap="none" strike="noStrike">
              <a:solidFill>
                <a:schemeClr val="dk1"/>
              </a:solidFill>
              <a:latin typeface="Calibri"/>
              <a:ea typeface="Calibri"/>
              <a:cs typeface="Calibri"/>
              <a:sym typeface="Calibri"/>
            </a:endParaRPr>
          </a:p>
        </p:txBody>
      </p:sp>
      <p:sp>
        <p:nvSpPr>
          <p:cNvPr id="251" name="Google Shape;251;p9"/>
          <p:cNvSpPr/>
          <p:nvPr/>
        </p:nvSpPr>
        <p:spPr>
          <a:xfrm>
            <a:off x="607219" y="3057944"/>
            <a:ext cx="2262169" cy="51435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A0A0A0"/>
              </a:buClr>
              <a:buSzPts val="834"/>
              <a:buFont typeface="Calibri"/>
              <a:buNone/>
            </a:pPr>
            <a:r>
              <a:rPr b="0" i="0" lang="en-US" sz="934" u="none" cap="none" strike="noStrike">
                <a:solidFill>
                  <a:srgbClr val="A0A0A0"/>
                </a:solidFill>
                <a:latin typeface="Calibri"/>
                <a:ea typeface="Calibri"/>
                <a:cs typeface="Calibri"/>
                <a:sym typeface="Calibri"/>
              </a:rPr>
              <a:t>3D damage visualizations and heatmaps for intuitive spatial understanding and site-specific planning.</a:t>
            </a:r>
            <a:endParaRPr b="0" i="0" sz="934" u="none" cap="none" strike="noStrike">
              <a:solidFill>
                <a:schemeClr val="dk1"/>
              </a:solidFill>
              <a:latin typeface="Calibri"/>
              <a:ea typeface="Calibri"/>
              <a:cs typeface="Calibri"/>
              <a:sym typeface="Calibri"/>
            </a:endParaRPr>
          </a:p>
        </p:txBody>
      </p:sp>
      <p:sp>
        <p:nvSpPr>
          <p:cNvPr id="252" name="Google Shape;252;p9"/>
          <p:cNvSpPr/>
          <p:nvPr/>
        </p:nvSpPr>
        <p:spPr>
          <a:xfrm>
            <a:off x="3262294" y="2236412"/>
            <a:ext cx="2619384" cy="1764506"/>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3262294" y="2236412"/>
            <a:ext cx="2605097" cy="14288"/>
          </a:xfrm>
          <a:prstGeom prst="rect">
            <a:avLst/>
          </a:prstGeom>
          <a:solidFill>
            <a:srgbClr val="00FFCC">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4" name="Google Shape;254;p9"/>
          <p:cNvPicPr preferRelativeResize="0"/>
          <p:nvPr/>
        </p:nvPicPr>
        <p:blipFill rotWithShape="1">
          <a:blip r:embed="rId5">
            <a:alphaModFix/>
          </a:blip>
          <a:srcRect b="0" l="0" r="0" t="0"/>
          <a:stretch/>
        </p:blipFill>
        <p:spPr>
          <a:xfrm>
            <a:off x="3440888" y="2447153"/>
            <a:ext cx="128588" cy="171450"/>
          </a:xfrm>
          <a:prstGeom prst="rect">
            <a:avLst/>
          </a:prstGeom>
          <a:noFill/>
          <a:ln>
            <a:noFill/>
          </a:ln>
        </p:spPr>
      </p:pic>
      <p:sp>
        <p:nvSpPr>
          <p:cNvPr id="255" name="Google Shape;255;p9"/>
          <p:cNvSpPr/>
          <p:nvPr/>
        </p:nvSpPr>
        <p:spPr>
          <a:xfrm>
            <a:off x="3440888" y="2756120"/>
            <a:ext cx="2262197"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00FFCC"/>
              </a:buClr>
              <a:buSzPts val="987"/>
              <a:buFont typeface="Calibri"/>
              <a:buNone/>
            </a:pPr>
            <a:r>
              <a:rPr b="1" i="0" lang="en-US" sz="987" u="none" cap="none" strike="noStrike">
                <a:solidFill>
                  <a:srgbClr val="00FFCC"/>
                </a:solidFill>
                <a:latin typeface="Calibri"/>
                <a:ea typeface="Calibri"/>
                <a:cs typeface="Calibri"/>
                <a:sym typeface="Calibri"/>
              </a:rPr>
              <a:t>Project Portfolios</a:t>
            </a:r>
            <a:endParaRPr b="0" i="0" sz="987" u="none" cap="none" strike="noStrike">
              <a:solidFill>
                <a:schemeClr val="dk1"/>
              </a:solidFill>
              <a:latin typeface="Calibri"/>
              <a:ea typeface="Calibri"/>
              <a:cs typeface="Calibri"/>
              <a:sym typeface="Calibri"/>
            </a:endParaRPr>
          </a:p>
        </p:txBody>
      </p:sp>
      <p:sp>
        <p:nvSpPr>
          <p:cNvPr id="256" name="Google Shape;256;p9"/>
          <p:cNvSpPr/>
          <p:nvPr/>
        </p:nvSpPr>
        <p:spPr>
          <a:xfrm>
            <a:off x="3440888" y="3057944"/>
            <a:ext cx="2262197" cy="51435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A0A0A0"/>
              </a:buClr>
              <a:buSzPts val="834"/>
              <a:buFont typeface="Calibri"/>
              <a:buNone/>
            </a:pPr>
            <a:r>
              <a:rPr b="0" i="0" lang="en-US" sz="934" u="none" cap="none" strike="noStrike">
                <a:solidFill>
                  <a:srgbClr val="A0A0A0"/>
                </a:solidFill>
                <a:latin typeface="Calibri"/>
                <a:ea typeface="Calibri"/>
                <a:cs typeface="Calibri"/>
                <a:sym typeface="Calibri"/>
              </a:rPr>
              <a:t>Detailed portfolios listing 175 projects, each linked to the nearest spatial reference (e.g., hospital) via </a:t>
            </a:r>
            <a:r>
              <a:rPr b="1" i="0" lang="en-US" sz="884" u="none" cap="none" strike="noStrike">
                <a:solidFill>
                  <a:srgbClr val="A0A0A0"/>
                </a:solidFill>
                <a:latin typeface="Calibri"/>
                <a:ea typeface="Calibri"/>
                <a:cs typeface="Calibri"/>
                <a:sym typeface="Calibri"/>
              </a:rPr>
              <a:t>spatial joins</a:t>
            </a:r>
            <a:r>
              <a:rPr b="0" i="0" lang="en-US" sz="934" u="none" cap="none" strike="noStrike">
                <a:solidFill>
                  <a:srgbClr val="A0A0A0"/>
                </a:solidFill>
                <a:latin typeface="Calibri"/>
                <a:ea typeface="Calibri"/>
                <a:cs typeface="Calibri"/>
                <a:sym typeface="Calibri"/>
              </a:rPr>
              <a:t>.</a:t>
            </a:r>
            <a:endParaRPr b="0" i="0" sz="934" u="none" cap="none" strike="noStrike">
              <a:solidFill>
                <a:schemeClr val="dk1"/>
              </a:solidFill>
              <a:latin typeface="Calibri"/>
              <a:ea typeface="Calibri"/>
              <a:cs typeface="Calibri"/>
              <a:sym typeface="Calibri"/>
            </a:endParaRPr>
          </a:p>
        </p:txBody>
      </p:sp>
      <p:sp>
        <p:nvSpPr>
          <p:cNvPr id="257" name="Google Shape;257;p9"/>
          <p:cNvSpPr/>
          <p:nvPr/>
        </p:nvSpPr>
        <p:spPr>
          <a:xfrm>
            <a:off x="6095991" y="2236412"/>
            <a:ext cx="2619356" cy="1764506"/>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6095991" y="2236412"/>
            <a:ext cx="2605041" cy="14288"/>
          </a:xfrm>
          <a:prstGeom prst="rect">
            <a:avLst/>
          </a:prstGeom>
          <a:solidFill>
            <a:srgbClr val="00FFCC">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9" name="Google Shape;259;p9"/>
          <p:cNvPicPr preferRelativeResize="0"/>
          <p:nvPr/>
        </p:nvPicPr>
        <p:blipFill rotWithShape="1">
          <a:blip r:embed="rId6">
            <a:alphaModFix/>
          </a:blip>
          <a:srcRect b="0" l="0" r="0" t="0"/>
          <a:stretch/>
        </p:blipFill>
        <p:spPr>
          <a:xfrm>
            <a:off x="6274584" y="2447153"/>
            <a:ext cx="128588" cy="171450"/>
          </a:xfrm>
          <a:prstGeom prst="rect">
            <a:avLst/>
          </a:prstGeom>
          <a:noFill/>
          <a:ln>
            <a:noFill/>
          </a:ln>
        </p:spPr>
      </p:pic>
      <p:sp>
        <p:nvSpPr>
          <p:cNvPr id="260" name="Google Shape;260;p9"/>
          <p:cNvSpPr/>
          <p:nvPr/>
        </p:nvSpPr>
        <p:spPr>
          <a:xfrm>
            <a:off x="6274584" y="2756120"/>
            <a:ext cx="2262169" cy="194667"/>
          </a:xfrm>
          <a:prstGeom prst="rect">
            <a:avLst/>
          </a:prstGeom>
          <a:noFill/>
          <a:ln>
            <a:noFill/>
          </a:ln>
        </p:spPr>
        <p:txBody>
          <a:bodyPr anchorCtr="0" anchor="t" bIns="0" lIns="0" spcFirstLastPara="1" rIns="0" wrap="square" tIns="0">
            <a:spAutoFit/>
          </a:bodyPr>
          <a:lstStyle/>
          <a:p>
            <a:pPr indent="0" lvl="0" marL="0" marR="0" rtl="0" algn="l">
              <a:lnSpc>
                <a:spcPct val="141843"/>
              </a:lnSpc>
              <a:spcBef>
                <a:spcPts val="0"/>
              </a:spcBef>
              <a:spcAft>
                <a:spcPts val="0"/>
              </a:spcAft>
              <a:buClr>
                <a:srgbClr val="00FFCC"/>
              </a:buClr>
              <a:buSzPts val="987"/>
              <a:buFont typeface="Calibri"/>
              <a:buNone/>
            </a:pPr>
            <a:r>
              <a:rPr b="1" i="0" lang="en-US" sz="987" u="none" cap="none" strike="noStrike">
                <a:solidFill>
                  <a:srgbClr val="00FFCC"/>
                </a:solidFill>
                <a:latin typeface="Calibri"/>
                <a:ea typeface="Calibri"/>
                <a:cs typeface="Calibri"/>
                <a:sym typeface="Calibri"/>
              </a:rPr>
              <a:t>Automated Reports</a:t>
            </a:r>
            <a:endParaRPr b="0" i="0" sz="987" u="none" cap="none" strike="noStrike">
              <a:solidFill>
                <a:schemeClr val="dk1"/>
              </a:solidFill>
              <a:latin typeface="Calibri"/>
              <a:ea typeface="Calibri"/>
              <a:cs typeface="Calibri"/>
              <a:sym typeface="Calibri"/>
            </a:endParaRPr>
          </a:p>
        </p:txBody>
      </p:sp>
      <p:sp>
        <p:nvSpPr>
          <p:cNvPr id="261" name="Google Shape;261;p9"/>
          <p:cNvSpPr/>
          <p:nvPr/>
        </p:nvSpPr>
        <p:spPr>
          <a:xfrm>
            <a:off x="6274584" y="3057944"/>
            <a:ext cx="2262169" cy="51435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A0A0A0"/>
              </a:buClr>
              <a:buSzPts val="834"/>
              <a:buFont typeface="Calibri"/>
              <a:buNone/>
            </a:pPr>
            <a:r>
              <a:rPr b="0" i="0" lang="en-US" sz="934" u="none" cap="none" strike="noStrike">
                <a:solidFill>
                  <a:srgbClr val="A0A0A0"/>
                </a:solidFill>
                <a:latin typeface="Calibri"/>
                <a:ea typeface="Calibri"/>
                <a:cs typeface="Calibri"/>
                <a:sym typeface="Calibri"/>
              </a:rPr>
              <a:t>Tailored municipality reports and statistical dashboards providing localized intelligence for governance.</a:t>
            </a:r>
            <a:endParaRPr b="0" i="0" sz="934" u="none" cap="none" strike="noStrike">
              <a:solidFill>
                <a:schemeClr val="dk1"/>
              </a:solidFill>
              <a:latin typeface="Calibri"/>
              <a:ea typeface="Calibri"/>
              <a:cs typeface="Calibri"/>
              <a:sym typeface="Calibri"/>
            </a:endParaRPr>
          </a:p>
        </p:txBody>
      </p:sp>
      <p:sp>
        <p:nvSpPr>
          <p:cNvPr id="262" name="Google Shape;262;p9"/>
          <p:cNvSpPr/>
          <p:nvPr/>
        </p:nvSpPr>
        <p:spPr>
          <a:xfrm>
            <a:off x="0" y="4272381"/>
            <a:ext cx="9144000" cy="598289"/>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0" y="4272381"/>
            <a:ext cx="9144000" cy="7144"/>
          </a:xfrm>
          <a:prstGeom prst="rect">
            <a:avLst/>
          </a:prstGeom>
          <a:solidFill>
            <a:srgbClr val="CCFF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428625" y="4415256"/>
            <a:ext cx="1047983"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175</a:t>
            </a:r>
            <a:endParaRPr b="0" i="0" sz="1602" u="none" cap="none" strike="noStrike">
              <a:solidFill>
                <a:schemeClr val="dk1"/>
              </a:solidFill>
              <a:latin typeface="Calibri"/>
              <a:ea typeface="Calibri"/>
              <a:cs typeface="Calibri"/>
              <a:sym typeface="Calibri"/>
            </a:endParaRPr>
          </a:p>
        </p:txBody>
      </p:sp>
      <p:sp>
        <p:nvSpPr>
          <p:cNvPr id="265" name="Google Shape;265;p9"/>
          <p:cNvSpPr/>
          <p:nvPr/>
        </p:nvSpPr>
        <p:spPr>
          <a:xfrm>
            <a:off x="428625" y="4727795"/>
            <a:ext cx="1047983"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Priority Projects</a:t>
            </a:r>
            <a:endParaRPr b="0" i="0" sz="727" u="none" cap="none" strike="noStrike">
              <a:solidFill>
                <a:schemeClr val="dk1"/>
              </a:solidFill>
              <a:latin typeface="Calibri"/>
              <a:ea typeface="Calibri"/>
              <a:cs typeface="Calibri"/>
              <a:sym typeface="Calibri"/>
            </a:endParaRPr>
          </a:p>
        </p:txBody>
      </p:sp>
      <p:sp>
        <p:nvSpPr>
          <p:cNvPr id="266" name="Google Shape;266;p9"/>
          <p:cNvSpPr/>
          <p:nvPr/>
        </p:nvSpPr>
        <p:spPr>
          <a:xfrm>
            <a:off x="1905233" y="4415256"/>
            <a:ext cx="1177184"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25+</a:t>
            </a:r>
            <a:endParaRPr b="0" i="0" sz="1602" u="none" cap="none" strike="noStrike">
              <a:solidFill>
                <a:schemeClr val="dk1"/>
              </a:solidFill>
              <a:latin typeface="Calibri"/>
              <a:ea typeface="Calibri"/>
              <a:cs typeface="Calibri"/>
              <a:sym typeface="Calibri"/>
            </a:endParaRPr>
          </a:p>
        </p:txBody>
      </p:sp>
      <p:sp>
        <p:nvSpPr>
          <p:cNvPr id="267" name="Google Shape;267;p9"/>
          <p:cNvSpPr/>
          <p:nvPr/>
        </p:nvSpPr>
        <p:spPr>
          <a:xfrm>
            <a:off x="1905233" y="4727795"/>
            <a:ext cx="1177184"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Automated Reports</a:t>
            </a:r>
            <a:endParaRPr b="0" i="0" sz="727" u="none" cap="none" strike="noStrike">
              <a:solidFill>
                <a:schemeClr val="dk1"/>
              </a:solidFill>
              <a:latin typeface="Calibri"/>
              <a:ea typeface="Calibri"/>
              <a:cs typeface="Calibri"/>
              <a:sym typeface="Calibri"/>
            </a:endParaRPr>
          </a:p>
        </p:txBody>
      </p:sp>
      <p:sp>
        <p:nvSpPr>
          <p:cNvPr id="268" name="Google Shape;268;p9"/>
          <p:cNvSpPr/>
          <p:nvPr/>
        </p:nvSpPr>
        <p:spPr>
          <a:xfrm>
            <a:off x="3511042" y="4415256"/>
            <a:ext cx="1046838"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100%</a:t>
            </a:r>
            <a:endParaRPr b="0" i="0" sz="1602" u="none" cap="none" strike="noStrike">
              <a:solidFill>
                <a:schemeClr val="dk1"/>
              </a:solidFill>
              <a:latin typeface="Calibri"/>
              <a:ea typeface="Calibri"/>
              <a:cs typeface="Calibri"/>
              <a:sym typeface="Calibri"/>
            </a:endParaRPr>
          </a:p>
        </p:txBody>
      </p:sp>
      <p:sp>
        <p:nvSpPr>
          <p:cNvPr id="269" name="Google Shape;269;p9"/>
          <p:cNvSpPr/>
          <p:nvPr/>
        </p:nvSpPr>
        <p:spPr>
          <a:xfrm>
            <a:off x="3511042" y="4727795"/>
            <a:ext cx="1046838" cy="135731"/>
          </a:xfrm>
          <a:prstGeom prst="rect">
            <a:avLst/>
          </a:prstGeom>
          <a:noFill/>
          <a:ln>
            <a:noFill/>
          </a:ln>
        </p:spPr>
        <p:txBody>
          <a:bodyPr anchorCtr="0" anchor="t" bIns="0" lIns="0" spcFirstLastPara="1" rIns="0" wrap="square" tIns="0">
            <a:spAutoFit/>
          </a:bodyPr>
          <a:lstStyle/>
          <a:p>
            <a:pPr indent="0" lvl="0" marL="0" marR="0" rtl="0" algn="l">
              <a:lnSpc>
                <a:spcPct val="123796"/>
              </a:lnSpc>
              <a:spcBef>
                <a:spcPts val="0"/>
              </a:spcBef>
              <a:spcAft>
                <a:spcPts val="0"/>
              </a:spcAft>
              <a:buClr>
                <a:srgbClr val="A0A0A0"/>
              </a:buClr>
              <a:buSzPts val="727"/>
              <a:buFont typeface="Calibri"/>
              <a:buNone/>
            </a:pPr>
            <a:r>
              <a:rPr b="0" i="0" lang="en-US" sz="727" u="none" cap="none" strike="noStrike">
                <a:solidFill>
                  <a:srgbClr val="A0A0A0"/>
                </a:solidFill>
                <a:latin typeface="Calibri"/>
                <a:ea typeface="Calibri"/>
                <a:cs typeface="Calibri"/>
                <a:sym typeface="Calibri"/>
              </a:rPr>
              <a:t>Data Consistency</a:t>
            </a:r>
            <a:endParaRPr b="0" i="0" sz="727" u="none" cap="none" strike="noStrike">
              <a:solidFill>
                <a:schemeClr val="dk1"/>
              </a:solidFill>
              <a:latin typeface="Calibri"/>
              <a:ea typeface="Calibri"/>
              <a:cs typeface="Calibri"/>
              <a:sym typeface="Calibri"/>
            </a:endParaRPr>
          </a:p>
        </p:txBody>
      </p:sp>
      <p:sp>
        <p:nvSpPr>
          <p:cNvPr id="270" name="Google Shape;270;p9"/>
          <p:cNvSpPr/>
          <p:nvPr/>
        </p:nvSpPr>
        <p:spPr>
          <a:xfrm>
            <a:off x="5629163" y="4884539"/>
            <a:ext cx="3086212" cy="116086"/>
          </a:xfrm>
          <a:prstGeom prst="rect">
            <a:avLst/>
          </a:prstGeom>
          <a:noFill/>
          <a:ln>
            <a:noFill/>
          </a:ln>
        </p:spPr>
        <p:txBody>
          <a:bodyPr anchorCtr="0" anchor="t" bIns="0" lIns="0" spcFirstLastPara="1" rIns="0" wrap="square" tIns="0">
            <a:spAutoFit/>
          </a:bodyPr>
          <a:lstStyle/>
          <a:p>
            <a:pPr indent="0" lvl="0" marL="0" marR="0" rtl="0" algn="l">
              <a:lnSpc>
                <a:spcPct val="128824"/>
              </a:lnSpc>
              <a:spcBef>
                <a:spcPts val="0"/>
              </a:spcBef>
              <a:spcAft>
                <a:spcPts val="0"/>
              </a:spcAft>
              <a:buClr>
                <a:srgbClr val="00FFCC"/>
              </a:buClr>
              <a:buSzPts val="621"/>
              <a:buFont typeface="Calibri"/>
              <a:buNone/>
            </a:pPr>
            <a:r>
              <a:rPr b="0" i="0" lang="en-US" sz="621" u="none" cap="none" strike="noStrike">
                <a:solidFill>
                  <a:srgbClr val="00FFCC"/>
                </a:solidFill>
                <a:latin typeface="Calibri"/>
                <a:ea typeface="Calibri"/>
                <a:cs typeface="Calibri"/>
                <a:sym typeface="Calibri"/>
              </a:rPr>
              <a:t>OUTPUT_GENERATION_ENGINE_V1.0 // STATUS: ALL_SYSTEMS_OPERATIONAL</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descr="preencoded.png" id="276" name="Google Shape;276;p1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77" name="Google Shape;277;p10"/>
          <p:cNvSpPr/>
          <p:nvPr/>
        </p:nvSpPr>
        <p:spPr>
          <a:xfrm>
            <a:off x="0" y="0"/>
            <a:ext cx="9001125" cy="902317"/>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0" y="895173"/>
            <a:ext cx="9001125" cy="7144"/>
          </a:xfrm>
          <a:prstGeom prst="rect">
            <a:avLst/>
          </a:prstGeom>
          <a:solidFill>
            <a:srgbClr val="B3FF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p:nvPr/>
        </p:nvSpPr>
        <p:spPr>
          <a:xfrm>
            <a:off x="428625" y="475478"/>
            <a:ext cx="8572500" cy="312539"/>
          </a:xfrm>
          <a:prstGeom prst="rect">
            <a:avLst/>
          </a:prstGeom>
          <a:noFill/>
          <a:ln>
            <a:noFill/>
          </a:ln>
        </p:spPr>
        <p:txBody>
          <a:bodyPr anchorCtr="0" anchor="t" bIns="0" lIns="0" spcFirstLastPara="1" rIns="0" wrap="square" tIns="0">
            <a:spAutoFit/>
          </a:bodyPr>
          <a:lstStyle/>
          <a:p>
            <a:pPr indent="0" lvl="0" marL="0" marR="0" rtl="0" algn="l">
              <a:lnSpc>
                <a:spcPct val="137328"/>
              </a:lnSpc>
              <a:spcBef>
                <a:spcPts val="0"/>
              </a:spcBef>
              <a:spcAft>
                <a:spcPts val="0"/>
              </a:spcAft>
              <a:buClr>
                <a:srgbClr val="00FFCC"/>
              </a:buClr>
              <a:buSzPts val="1602"/>
              <a:buFont typeface="Calibri"/>
              <a:buNone/>
            </a:pPr>
            <a:r>
              <a:rPr b="1" i="0" lang="en-US" sz="1602" u="none" cap="none" strike="noStrike">
                <a:solidFill>
                  <a:srgbClr val="00FFCC"/>
                </a:solidFill>
                <a:latin typeface="Calibri"/>
                <a:ea typeface="Calibri"/>
                <a:cs typeface="Calibri"/>
                <a:sym typeface="Calibri"/>
              </a:rPr>
              <a:t>Future Roadmap Enhances Real-Time Decision Support</a:t>
            </a:r>
            <a:endParaRPr b="0" i="0" sz="1602" u="none" cap="none" strike="noStrike">
              <a:solidFill>
                <a:schemeClr val="dk1"/>
              </a:solidFill>
              <a:latin typeface="Calibri"/>
              <a:ea typeface="Calibri"/>
              <a:cs typeface="Calibri"/>
              <a:sym typeface="Calibri"/>
            </a:endParaRPr>
          </a:p>
        </p:txBody>
      </p:sp>
      <p:sp>
        <p:nvSpPr>
          <p:cNvPr id="280" name="Google Shape;280;p10"/>
          <p:cNvSpPr/>
          <p:nvPr/>
        </p:nvSpPr>
        <p:spPr>
          <a:xfrm>
            <a:off x="428625" y="1466673"/>
            <a:ext cx="771413"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FFCC"/>
              </a:buClr>
              <a:buSzPts val="1193"/>
              <a:buFont typeface="Calibri"/>
              <a:buNone/>
            </a:pPr>
            <a:r>
              <a:rPr b="1" i="0" lang="en-US" sz="1193" u="none" cap="none" strike="noStrike">
                <a:solidFill>
                  <a:srgbClr val="00FFCC"/>
                </a:solidFill>
                <a:latin typeface="Calibri"/>
                <a:ea typeface="Calibri"/>
                <a:cs typeface="Calibri"/>
                <a:sym typeface="Calibri"/>
              </a:rPr>
              <a:t>Q2 2026</a:t>
            </a:r>
            <a:endParaRPr b="0" i="0" sz="1193" u="none" cap="none" strike="noStrike">
              <a:solidFill>
                <a:schemeClr val="dk1"/>
              </a:solidFill>
              <a:latin typeface="Calibri"/>
              <a:ea typeface="Calibri"/>
              <a:cs typeface="Calibri"/>
              <a:sym typeface="Calibri"/>
            </a:endParaRPr>
          </a:p>
        </p:txBody>
      </p:sp>
      <p:sp>
        <p:nvSpPr>
          <p:cNvPr id="281" name="Google Shape;281;p10"/>
          <p:cNvSpPr/>
          <p:nvPr/>
        </p:nvSpPr>
        <p:spPr>
          <a:xfrm>
            <a:off x="428625" y="3057944"/>
            <a:ext cx="171450" cy="171450"/>
          </a:xfrm>
          <a:prstGeom prst="rect">
            <a:avLst/>
          </a:prstGeom>
          <a:solidFill>
            <a:srgbClr val="111111"/>
          </a:solidFill>
          <a:ln cap="flat" cmpd="sng" w="18275">
            <a:solidFill>
              <a:srgbClr val="00F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0"/>
          <p:cNvSpPr/>
          <p:nvPr/>
        </p:nvSpPr>
        <p:spPr>
          <a:xfrm>
            <a:off x="457200" y="3086519"/>
            <a:ext cx="57150" cy="57150"/>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0"/>
          <p:cNvSpPr/>
          <p:nvPr/>
        </p:nvSpPr>
        <p:spPr>
          <a:xfrm>
            <a:off x="428625" y="2700756"/>
            <a:ext cx="2500313" cy="1443038"/>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571500" y="2843631"/>
            <a:ext cx="2214563"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Web-GIS Interface</a:t>
            </a:r>
            <a:endParaRPr b="0" i="0" sz="885" u="none" cap="none" strike="noStrike">
              <a:solidFill>
                <a:schemeClr val="dk1"/>
              </a:solidFill>
              <a:latin typeface="Calibri"/>
              <a:ea typeface="Calibri"/>
              <a:cs typeface="Calibri"/>
              <a:sym typeface="Calibri"/>
            </a:endParaRPr>
          </a:p>
        </p:txBody>
      </p:sp>
      <p:sp>
        <p:nvSpPr>
          <p:cNvPr id="285" name="Google Shape;285;p10"/>
          <p:cNvSpPr/>
          <p:nvPr/>
        </p:nvSpPr>
        <p:spPr>
          <a:xfrm>
            <a:off x="571500" y="3090090"/>
            <a:ext cx="2214563" cy="51435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A0A0A0"/>
              </a:buClr>
              <a:buSzPts val="834"/>
              <a:buFont typeface="Calibri"/>
              <a:buNone/>
            </a:pPr>
            <a:r>
              <a:rPr b="0" i="0" lang="en-US" sz="834" u="none" cap="none" strike="noStrike">
                <a:solidFill>
                  <a:srgbClr val="A0A0A0"/>
                </a:solidFill>
                <a:latin typeface="Calibri"/>
                <a:ea typeface="Calibri"/>
                <a:cs typeface="Calibri"/>
                <a:sym typeface="Calibri"/>
              </a:rPr>
              <a:t>Launch of a collaborative platform for broader stakeholder access and interactive planning tools.</a:t>
            </a:r>
            <a:endParaRPr b="0" i="0" sz="834" u="none" cap="none" strike="noStrike">
              <a:solidFill>
                <a:schemeClr val="dk1"/>
              </a:solidFill>
              <a:latin typeface="Calibri"/>
              <a:ea typeface="Calibri"/>
              <a:cs typeface="Calibri"/>
              <a:sym typeface="Calibri"/>
            </a:endParaRPr>
          </a:p>
        </p:txBody>
      </p:sp>
      <p:sp>
        <p:nvSpPr>
          <p:cNvPr id="286" name="Google Shape;286;p10"/>
          <p:cNvSpPr/>
          <p:nvPr/>
        </p:nvSpPr>
        <p:spPr>
          <a:xfrm>
            <a:off x="3321844" y="1466673"/>
            <a:ext cx="771413"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FFCC"/>
              </a:buClr>
              <a:buSzPts val="1193"/>
              <a:buFont typeface="Calibri"/>
              <a:buNone/>
            </a:pPr>
            <a:r>
              <a:rPr b="1" i="0" lang="en-US" sz="1193" u="none" cap="none" strike="noStrike">
                <a:solidFill>
                  <a:srgbClr val="00FFCC"/>
                </a:solidFill>
                <a:latin typeface="Calibri"/>
                <a:ea typeface="Calibri"/>
                <a:cs typeface="Calibri"/>
                <a:sym typeface="Calibri"/>
              </a:rPr>
              <a:t>Q3 2026</a:t>
            </a:r>
            <a:endParaRPr b="0" i="0" sz="1193" u="none" cap="none" strike="noStrike">
              <a:solidFill>
                <a:schemeClr val="dk1"/>
              </a:solidFill>
              <a:latin typeface="Calibri"/>
              <a:ea typeface="Calibri"/>
              <a:cs typeface="Calibri"/>
              <a:sym typeface="Calibri"/>
            </a:endParaRPr>
          </a:p>
        </p:txBody>
      </p:sp>
      <p:sp>
        <p:nvSpPr>
          <p:cNvPr id="287" name="Google Shape;287;p10"/>
          <p:cNvSpPr/>
          <p:nvPr/>
        </p:nvSpPr>
        <p:spPr>
          <a:xfrm>
            <a:off x="3321844" y="3057944"/>
            <a:ext cx="171450" cy="171450"/>
          </a:xfrm>
          <a:prstGeom prst="rect">
            <a:avLst/>
          </a:prstGeom>
          <a:solidFill>
            <a:srgbClr val="111111"/>
          </a:solidFill>
          <a:ln cap="flat" cmpd="sng" w="18275">
            <a:solidFill>
              <a:srgbClr val="00F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p:nvPr/>
        </p:nvSpPr>
        <p:spPr>
          <a:xfrm>
            <a:off x="3350419" y="3086519"/>
            <a:ext cx="57150" cy="57150"/>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3321844" y="2700756"/>
            <a:ext cx="2500313" cy="1443038"/>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p:nvPr/>
        </p:nvSpPr>
        <p:spPr>
          <a:xfrm>
            <a:off x="3464719" y="2843631"/>
            <a:ext cx="2214563"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Live Data Integration</a:t>
            </a:r>
            <a:endParaRPr b="0" i="0" sz="885" u="none" cap="none" strike="noStrike">
              <a:solidFill>
                <a:schemeClr val="dk1"/>
              </a:solidFill>
              <a:latin typeface="Calibri"/>
              <a:ea typeface="Calibri"/>
              <a:cs typeface="Calibri"/>
              <a:sym typeface="Calibri"/>
            </a:endParaRPr>
          </a:p>
        </p:txBody>
      </p:sp>
      <p:sp>
        <p:nvSpPr>
          <p:cNvPr id="291" name="Google Shape;291;p10"/>
          <p:cNvSpPr/>
          <p:nvPr/>
        </p:nvSpPr>
        <p:spPr>
          <a:xfrm>
            <a:off x="3464719" y="3090090"/>
            <a:ext cx="2214563" cy="51435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A0A0A0"/>
              </a:buClr>
              <a:buSzPts val="834"/>
              <a:buFont typeface="Calibri"/>
              <a:buNone/>
            </a:pPr>
            <a:r>
              <a:rPr b="0" i="0" lang="en-US" sz="834" u="none" cap="none" strike="noStrike">
                <a:solidFill>
                  <a:srgbClr val="A0A0A0"/>
                </a:solidFill>
                <a:latin typeface="Calibri"/>
                <a:ea typeface="Calibri"/>
                <a:cs typeface="Calibri"/>
                <a:sym typeface="Calibri"/>
              </a:rPr>
              <a:t>Real-time synchronization with UN OCHA and humanitarian feeds to update priority scores dynamically.</a:t>
            </a:r>
            <a:endParaRPr b="0" i="0" sz="834" u="none" cap="none" strike="noStrike">
              <a:solidFill>
                <a:schemeClr val="dk1"/>
              </a:solidFill>
              <a:latin typeface="Calibri"/>
              <a:ea typeface="Calibri"/>
              <a:cs typeface="Calibri"/>
              <a:sym typeface="Calibri"/>
            </a:endParaRPr>
          </a:p>
        </p:txBody>
      </p:sp>
      <p:sp>
        <p:nvSpPr>
          <p:cNvPr id="292" name="Google Shape;292;p10"/>
          <p:cNvSpPr/>
          <p:nvPr/>
        </p:nvSpPr>
        <p:spPr>
          <a:xfrm>
            <a:off x="6215063" y="1466673"/>
            <a:ext cx="771413" cy="233958"/>
          </a:xfrm>
          <a:prstGeom prst="rect">
            <a:avLst/>
          </a:prstGeom>
          <a:noFill/>
          <a:ln>
            <a:noFill/>
          </a:ln>
        </p:spPr>
        <p:txBody>
          <a:bodyPr anchorCtr="0" anchor="t" bIns="0" lIns="0" spcFirstLastPara="1" rIns="0" wrap="square" tIns="0">
            <a:spAutoFit/>
          </a:bodyPr>
          <a:lstStyle/>
          <a:p>
            <a:pPr indent="0" lvl="0" marL="0" marR="0" rtl="0" algn="l">
              <a:lnSpc>
                <a:spcPct val="134115"/>
              </a:lnSpc>
              <a:spcBef>
                <a:spcPts val="0"/>
              </a:spcBef>
              <a:spcAft>
                <a:spcPts val="0"/>
              </a:spcAft>
              <a:buClr>
                <a:srgbClr val="00FFCC"/>
              </a:buClr>
              <a:buSzPts val="1193"/>
              <a:buFont typeface="Calibri"/>
              <a:buNone/>
            </a:pPr>
            <a:r>
              <a:rPr b="1" i="0" lang="en-US" sz="1193" u="none" cap="none" strike="noStrike">
                <a:solidFill>
                  <a:srgbClr val="00FFCC"/>
                </a:solidFill>
                <a:latin typeface="Calibri"/>
                <a:ea typeface="Calibri"/>
                <a:cs typeface="Calibri"/>
                <a:sym typeface="Calibri"/>
              </a:rPr>
              <a:t>Q4 2026</a:t>
            </a:r>
            <a:endParaRPr b="0" i="0" sz="1193" u="none" cap="none" strike="noStrike">
              <a:solidFill>
                <a:schemeClr val="dk1"/>
              </a:solidFill>
              <a:latin typeface="Calibri"/>
              <a:ea typeface="Calibri"/>
              <a:cs typeface="Calibri"/>
              <a:sym typeface="Calibri"/>
            </a:endParaRPr>
          </a:p>
        </p:txBody>
      </p:sp>
      <p:sp>
        <p:nvSpPr>
          <p:cNvPr id="293" name="Google Shape;293;p10"/>
          <p:cNvSpPr/>
          <p:nvPr/>
        </p:nvSpPr>
        <p:spPr>
          <a:xfrm>
            <a:off x="6215063" y="3057944"/>
            <a:ext cx="171450" cy="171450"/>
          </a:xfrm>
          <a:prstGeom prst="rect">
            <a:avLst/>
          </a:prstGeom>
          <a:solidFill>
            <a:srgbClr val="111111"/>
          </a:solidFill>
          <a:ln cap="flat" cmpd="sng" w="18275">
            <a:solidFill>
              <a:srgbClr val="00FF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6243638" y="3086519"/>
            <a:ext cx="57150" cy="57150"/>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
          <p:cNvSpPr/>
          <p:nvPr/>
        </p:nvSpPr>
        <p:spPr>
          <a:xfrm>
            <a:off x="6215063" y="2700756"/>
            <a:ext cx="2500313" cy="1443038"/>
          </a:xfrm>
          <a:prstGeom prst="rect">
            <a:avLst/>
          </a:prstGeom>
          <a:solidFill>
            <a:srgbClr val="FFFFFF">
              <a:alpha val="1960"/>
            </a:srgbClr>
          </a:solidFill>
          <a:ln cap="flat" cmpd="sng" w="9525">
            <a:solidFill>
              <a:srgbClr val="A0A0A0">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p:nvPr/>
        </p:nvSpPr>
        <p:spPr>
          <a:xfrm>
            <a:off x="6357938" y="2843631"/>
            <a:ext cx="2214563" cy="175022"/>
          </a:xfrm>
          <a:prstGeom prst="rect">
            <a:avLst/>
          </a:prstGeom>
          <a:noFill/>
          <a:ln>
            <a:noFill/>
          </a:ln>
        </p:spPr>
        <p:txBody>
          <a:bodyPr anchorCtr="0" anchor="t" bIns="0" lIns="0" spcFirstLastPara="1" rIns="0" wrap="square" tIns="0">
            <a:spAutoFit/>
          </a:bodyPr>
          <a:lstStyle/>
          <a:p>
            <a:pPr indent="0" lvl="0" marL="0" marR="0" rtl="0" algn="l">
              <a:lnSpc>
                <a:spcPct val="135593"/>
              </a:lnSpc>
              <a:spcBef>
                <a:spcPts val="0"/>
              </a:spcBef>
              <a:spcAft>
                <a:spcPts val="0"/>
              </a:spcAft>
              <a:buClr>
                <a:srgbClr val="00FFCC"/>
              </a:buClr>
              <a:buSzPts val="885"/>
              <a:buFont typeface="Calibri"/>
              <a:buNone/>
            </a:pPr>
            <a:r>
              <a:rPr b="1" i="0" lang="en-US" sz="885" u="none" cap="none" strike="noStrike">
                <a:solidFill>
                  <a:srgbClr val="00FFCC"/>
                </a:solidFill>
                <a:latin typeface="Calibri"/>
                <a:ea typeface="Calibri"/>
                <a:cs typeface="Calibri"/>
                <a:sym typeface="Calibri"/>
              </a:rPr>
              <a:t>ML Cost Prediction</a:t>
            </a:r>
            <a:endParaRPr b="0" i="0" sz="885" u="none" cap="none" strike="noStrike">
              <a:solidFill>
                <a:schemeClr val="dk1"/>
              </a:solidFill>
              <a:latin typeface="Calibri"/>
              <a:ea typeface="Calibri"/>
              <a:cs typeface="Calibri"/>
              <a:sym typeface="Calibri"/>
            </a:endParaRPr>
          </a:p>
        </p:txBody>
      </p:sp>
      <p:sp>
        <p:nvSpPr>
          <p:cNvPr id="297" name="Google Shape;297;p10"/>
          <p:cNvSpPr/>
          <p:nvPr/>
        </p:nvSpPr>
        <p:spPr>
          <a:xfrm>
            <a:off x="6357938" y="3090090"/>
            <a:ext cx="2214563" cy="514350"/>
          </a:xfrm>
          <a:prstGeom prst="rect">
            <a:avLst/>
          </a:prstGeom>
          <a:noFill/>
          <a:ln>
            <a:noFill/>
          </a:ln>
        </p:spPr>
        <p:txBody>
          <a:bodyPr anchorCtr="0" anchor="t" bIns="0" lIns="0" spcFirstLastPara="1" rIns="0" wrap="square" tIns="0">
            <a:spAutoFit/>
          </a:bodyPr>
          <a:lstStyle/>
          <a:p>
            <a:pPr indent="0" lvl="0" marL="0" marR="0" rtl="0" algn="l">
              <a:lnSpc>
                <a:spcPct val="167865"/>
              </a:lnSpc>
              <a:spcBef>
                <a:spcPts val="0"/>
              </a:spcBef>
              <a:spcAft>
                <a:spcPts val="0"/>
              </a:spcAft>
              <a:buClr>
                <a:srgbClr val="A0A0A0"/>
              </a:buClr>
              <a:buSzPts val="834"/>
              <a:buFont typeface="Calibri"/>
              <a:buNone/>
            </a:pPr>
            <a:r>
              <a:rPr b="0" i="0" lang="en-US" sz="834" u="none" cap="none" strike="noStrike">
                <a:solidFill>
                  <a:srgbClr val="A0A0A0"/>
                </a:solidFill>
                <a:latin typeface="Calibri"/>
                <a:ea typeface="Calibri"/>
                <a:cs typeface="Calibri"/>
                <a:sym typeface="Calibri"/>
              </a:rPr>
              <a:t>Implementation of advanced Machine Learning models for accurate, dynamic reconstruction cost forecasting.</a:t>
            </a:r>
            <a:endParaRPr b="0" i="0" sz="834" u="none" cap="none" strike="noStrike">
              <a:solidFill>
                <a:schemeClr val="dk1"/>
              </a:solidFill>
              <a:latin typeface="Calibri"/>
              <a:ea typeface="Calibri"/>
              <a:cs typeface="Calibri"/>
              <a:sym typeface="Calibri"/>
            </a:endParaRPr>
          </a:p>
        </p:txBody>
      </p:sp>
      <p:sp>
        <p:nvSpPr>
          <p:cNvPr id="298" name="Google Shape;298;p10"/>
          <p:cNvSpPr/>
          <p:nvPr/>
        </p:nvSpPr>
        <p:spPr>
          <a:xfrm>
            <a:off x="428625" y="4558131"/>
            <a:ext cx="8022431" cy="411435"/>
          </a:xfrm>
          <a:prstGeom prst="rect">
            <a:avLst/>
          </a:prstGeom>
          <a:solidFill>
            <a:srgbClr val="000000">
              <a:alpha val="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
          <p:cNvSpPr/>
          <p:nvPr/>
        </p:nvSpPr>
        <p:spPr>
          <a:xfrm>
            <a:off x="428625" y="4558131"/>
            <a:ext cx="21431" cy="411435"/>
          </a:xfrm>
          <a:prstGeom prst="rect">
            <a:avLst/>
          </a:prstGeom>
          <a:solidFill>
            <a:srgbClr val="00FF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428625" y="4558131"/>
            <a:ext cx="8022431" cy="411435"/>
          </a:xfrm>
          <a:prstGeom prst="rect">
            <a:avLst/>
          </a:prstGeom>
          <a:noFill/>
          <a:ln>
            <a:noFill/>
          </a:ln>
        </p:spPr>
        <p:txBody>
          <a:bodyPr anchorCtr="0" anchor="t" bIns="0" lIns="510275" spcFirstLastPara="1" rIns="510275" wrap="square" tIns="0">
            <a:spAutoFit/>
          </a:bodyPr>
          <a:lstStyle/>
          <a:p>
            <a:pPr indent="0" lvl="0" marL="0" marR="0" rtl="0" algn="l">
              <a:lnSpc>
                <a:spcPct val="169851"/>
              </a:lnSpc>
              <a:spcBef>
                <a:spcPts val="0"/>
              </a:spcBef>
              <a:spcAft>
                <a:spcPts val="0"/>
              </a:spcAft>
              <a:buClr>
                <a:srgbClr val="E0E0E0"/>
              </a:buClr>
              <a:buSzPts val="942"/>
              <a:buFont typeface="Calibri"/>
              <a:buNone/>
            </a:pPr>
            <a:r>
              <a:rPr b="0" i="0" lang="en-US" sz="942" u="none" cap="none" strike="noStrike">
                <a:solidFill>
                  <a:srgbClr val="E0E0E0"/>
                </a:solidFill>
                <a:latin typeface="Calibri"/>
                <a:ea typeface="Calibri"/>
                <a:cs typeface="Calibri"/>
                <a:sym typeface="Calibri"/>
              </a:rPr>
              <a:t>The GSR-DSS remains a living framework, evolving with the ground reality to support a resilient future for Gaza. These enhancements will ensure the system remains a critical tool for evidence-based recovery.</a:t>
            </a:r>
            <a:endParaRPr b="0" i="0" sz="942" u="none" cap="none" strike="noStrike">
              <a:solidFill>
                <a:schemeClr val="dk1"/>
              </a:solidFill>
              <a:latin typeface="Calibri"/>
              <a:ea typeface="Calibri"/>
              <a:cs typeface="Calibri"/>
              <a:sym typeface="Calibri"/>
            </a:endParaRPr>
          </a:p>
        </p:txBody>
      </p:sp>
      <p:sp>
        <p:nvSpPr>
          <p:cNvPr id="301" name="Google Shape;301;p10"/>
          <p:cNvSpPr/>
          <p:nvPr/>
        </p:nvSpPr>
        <p:spPr>
          <a:xfrm>
            <a:off x="428625" y="4741664"/>
            <a:ext cx="4158890" cy="116086"/>
          </a:xfrm>
          <a:prstGeom prst="rect">
            <a:avLst/>
          </a:prstGeom>
          <a:noFill/>
          <a:ln>
            <a:noFill/>
          </a:ln>
        </p:spPr>
        <p:txBody>
          <a:bodyPr anchorCtr="0" anchor="t" bIns="0" lIns="0" spcFirstLastPara="1" rIns="0" wrap="square" tIns="0">
            <a:spAutoFit/>
          </a:bodyPr>
          <a:lstStyle/>
          <a:p>
            <a:pPr indent="0" lvl="0" marL="0" marR="0" rtl="0" algn="l">
              <a:lnSpc>
                <a:spcPct val="128824"/>
              </a:lnSpc>
              <a:spcBef>
                <a:spcPts val="0"/>
              </a:spcBef>
              <a:spcAft>
                <a:spcPts val="0"/>
              </a:spcAft>
              <a:buClr>
                <a:srgbClr val="00FFCC"/>
              </a:buClr>
              <a:buSzPts val="621"/>
              <a:buFont typeface="Calibri"/>
              <a:buNone/>
            </a:pPr>
            <a:r>
              <a:rPr b="0" i="0" lang="en-US" sz="621" u="none" cap="none" strike="noStrike">
                <a:solidFill>
                  <a:srgbClr val="00FFCC"/>
                </a:solidFill>
                <a:latin typeface="Calibri"/>
                <a:ea typeface="Calibri"/>
                <a:cs typeface="Calibri"/>
                <a:sym typeface="Calibri"/>
              </a:rPr>
              <a:t>SYSTEM_EVOLUTION_PROTOCOL_INITIATED // ROADMAP_VER_2026.4 // [STATUS: READY_FOR_SCALING]</a:t>
            </a:r>
            <a:endParaRPr b="0" i="0" sz="621"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2026-02-23T02:31:12Z</dcterms:created>
  <dc:creator>PptxGenJS</dc:creator>
</cp:coreProperties>
</file>